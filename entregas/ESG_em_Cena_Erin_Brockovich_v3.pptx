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20"/>
    <p:sldId id="271" r:id="rId17"/>
    <p:sldId id="272" r:id="rId18"/>
    <p:sldId id="273" r:id="rId19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ntificação" id="{2417cfc4-e75a-393a-0544-31dae8c79654}">
          <p14:sldIdLst>
            <p14:sldId id="256"/>
            <p14:sldId id="258"/>
            <p14:sldId id="259"/>
          </p14:sldIdLst>
        </p14:section>
        <p14:section name="O problema central" id="{b2c0f54f-f617-c61d-61ea-e0749a6c710e}">
          <p14:sldIdLst>
            <p14:sldId id="257"/>
            <p14:sldId id="260"/>
            <p14:sldId id="261"/>
            <p14:sldId id="262"/>
          </p14:sldIdLst>
        </p14:section>
        <p14:section name="Stakeholders" id="{e2780d00-4b6d-c749-9103-93759ca39344}">
          <p14:sldIdLst>
            <p14:sldId id="263"/>
          </p14:sldIdLst>
        </p14:section>
        <p14:section name="O papel da empresa" id="{30c1a2b1-8f76-4e98-dda9-cdc2425446b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Impacto na Gestão Comercial" id="{be31c429-c018-40c4-ec24-3e00f19ba630}">
          <p14:sldIdLst>
            <p14:sldId id="270"/>
          </p14:sldIdLst>
        </p14:section>
        <p14:section name="Pergunta provocadora" id="{7a1c2b3d-0000-4e11-9a01-000000000006}">
          <p14:sldIdLst>
            <p14:sldId id="274"/>
          </p14:sldIdLst>
        </p14:section>
        <p14:section name="Proposta de intervenção" id="{7a1c2b3d-0000-4e11-9a01-000000000007}">
          <p14:sldIdLst>
            <p14:sldId id="271"/>
            <p14:sldId id="272"/>
            <p14:sldId id="273"/>
          </p14:sldIdLst>
        </p14:section>
        <p14:section name="Encerramento" id="{7a1c2b3d-0000-4e11-9a01-000000000008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(≈30 s). Boa noite! Somos o Grupo 3: Ian, Ana Beatriz, Matheus e Theo. Nosso filme é Erin Brockovich – Uma Mulher de Talento. A proposta da professora é que o filme seja o caso e nós sejamos os consultores. Então hoje não vamos resumir o filme: vamos diagnosticar o problema da empresa, analisar sob a ótica ESG e propor um plano de intervenção. E vamos precisar da participação de vocês em alguns momentos.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 min). Pergunte à turma: “Quem aqui beberia a água da torneira se a empresa da cidade garantisse que está tudo bem?” Peça para levantarem a mão e comente o resultado. Depois CLIQUE para revelar: “Ela não era.” e o dado sobre o cromo hexavalente: não dá para perceber pelo gosto, e ele é classificado como cancerígeno pela agência de câncer da OMS. Explique que essa é a história real de Hinkley, na Califórnia, e que a pergunta central do nosso seminário é sobre confiança: o que uma empresa faz quando descobre que a própria operação está prejudicando quem vive ao lado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 min). Identificação, primeiro item do roteiro: filme Erin Brockovich – Uma Mulher de Talento (2000), dirigido por Steven Soderbergh e baseado em um caso real; Julia Roberts ganhou o Oscar de Melhor Atriz. Grupo 3: Ian, Ana Beatriz, Matheus e Theo. Disciplina Responsabilidade Socioambiental, curso de Gestão Comercial da Fatec Ipiranga, com a Profa. Sandra Joyce Souza. Contexto em uma frase: uma mulher sem formação jurídica descobre que uma grande companhia de energia contaminou a água de uma cidade inteira e escondeu isso dos moradores.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(≈45 s). Explique o papel do grupo: imaginamos que a companhia de energia do filme nos contratou como consultoria de responsabilidade socioambiental. Mostre que seguimos o roteiro da professora: problema central, stakeholders, papel da empresa (com a análise ESG), impacto na gestão comercial, pergunta provocadora e, por fim, a nossa proposta de intervenção. Isso também serve de sumário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 min). Mostre que o problema não foi um acidente pontual, foi uma história de décadas. De 1952 a 1966 a estação usou cromo hexavalente e descartou a água em lagoas sem revestimento. A contaminação só foi comunicada ao órgão ambiental em 1987. Erin e o escritório começam a reunir os moradores em 1993, e o acordo sai em 1996: 44 anos depois do primeiro descarte. Depois vêm o filme, um segundo acordo em 2006 e uma limpeza que continua até hoje. Insight: cada ano de silêncio aumentou o dano e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(≈1min30). Use o desenho: 1) a estação descartava a água com cromo em lagoas sem revestimento; 2) o cromo infiltrou no solo e chegou ao lençol freático; 3) a mancha avançou até os poços de onde as famílias tiravam água. Mas o problema central não é só a contaminação: é a decisão de esconder. A comunidade não foi informada de forma clara e o problema cresceu. O resultado: em 1996 a empresa pagou US$ 333 milhões em acordo para mais de 600 moradores. Passe a palavra para a Ana Beatriz, que vai mostrar os impactos.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Agora identificamos os impactos. Quatro dimensões: ambiental (o lençol freático e a mancha de cromo que se espalhou), saúde (doenças relatadas pelos moradores), social (medo, desvalorização das casas, comunidade desconfiada) e econômico/reputacional (indenizações, processos e uma marca associada ao escândalo até hoje). Destaque: o impacto saiu da empresa e virou problema de toda a cidade, e a confiança perdida não volta com um cheque.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Mapeamos oito grupos de stakeholders. O mais afetado é a comunidade de Hinkley, que exige água limpa, verdade e reparação. Mas o problema também atinge funcionários, governo e órgãos ambientais, investidores, clientes, fornecedores, imprensa e Justiça. Ponto-chave: quando a empresa ignora um stakeholder, ele encontra outra forma de ser ouvido. No filme, foi pela Justiça.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(≈1min45). Agora a análise sob a ótica ESG. E (ambiental): descarte de substância tóxica sem controle e demora para conter a contaminação. S (social): a saúde da comunidade foi colocada em risco e a informação foi negada; no filme, a empresa oferece comprar casas para encerrar o assunto, sem reparar o dano. G (governança): o ponto mais grave. Documentos internos mostram que a direção sabia, e nenhum mecanismo interno impediu a decisão de esconder. CLIQUE para o insight: a falha de governança causou as falhas ambiental e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Resposta do roteiro: qual é a responsabilidade da organização? Responder pelo dano, mesmo sem intenção, e agir antes de ser obrigada. Isso se traduz em quatro deveres: informar, reparar, prevenir e prestar contas. Conecte com o Brasil: aqui a responsabilidade ambiental é objetiva, ou seja, a empresa responde pelo dano independentemente de culpa (Lei 6.938/81); há a Lei de Crimes Ambientais; e o Código de Defesa do Consumidor obriga a avisar consumidores e autoridades quando um risco é descoberto. Passe para o Matheus, que vai fazer a dinâmica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(≈2 min). Momento de interação. Leia o cenário. CLIQUE três vezes para revelar as opções A, B e C, lendo cada uma em voz alta. CLIQUE de novo para a chamada da votação. Peça para a turma votar levantando a mão em A, depois B, depois C, e anote mais ou menos quantos votaram em cada uma. Provoque quem votou B: “cumprir a lei basta?”. Provoque quem votou A: “e se a imprensa descobrir?”. Normalmente a maioria vota C. Então pergunte: “Se é tão óbvio, por que a empresa real não fez isso?” e avance para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(≈1min15). A empresa real escolheu, na prática, a opção A. Resultado: o dano cresceu, ela pagou US$ 333 milhões em 1996, enfrentou novos processos ligados ao cromo em outras unidades e virou o “vilão” de um filme vencedor do Oscar. Compare com a opção C: conter rápido, reparar de forma planejada e transformar comunidade e governo em parceiros. CLIQUE para o insight: esconder parece mais barato no curto prazo, mas é sempre mais caro no longo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 min). Vamos colocar números na conta. Só em acordos judiciais foram US$ 333 milhões em 1996 e mais US$ 295 milhões em 2006, em casos ligados a outras unidades: mais de US$ 600 milhões. CLIQUE para os custos que não aparecem no acordo: décadas de limpeza do lençol freático, uma cidade que se esvaziou e uma marca que ficou eternizada no cinema como vilã. Esse é o preço do silêncio.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(≈1min15). Para mostrar que não é só coisa de filme americano: Mariana (2015), com 19 mortes e um acordo de reparação de R$ 170 bilhões assinado em 2024; Brumadinho (2019), com 270 mortes e acordo de R$ 37,7 bilhões com o governo de Minas em 2021; e Maceió, onde cerca de 60 mil moradores deixaram suas casas pelo afundamento do solo causado pela mineração da Braskem. São casos diferentes, mas com a mesma lição: o custo da reparação, em vidas, dinheiro e reputação, é muito maior do que o custo da prevenção.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(≈1min30). Aqui está a ligação com o nosso curso. Um problema ambiental vira problema comercial: clientes perdem a confiança, grandes contratos e licitações passam a exigir critérios ESG, o produto é associado a risco, a marca vira sinônimo de escândalo, a comunicação perde credibilidade (greenwashing), fornecedores se afastam, o relacionamento com a comunidade se rompe e a reputação, que é o ativo mais difícil de reconstruir, despenca. Passe para o Theo, que traz a pergunta provocadora e a nossa proposta de intervenção.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(≈1min15). Detalhando a resposta: como consultores, propomos cinco ações concretas, na ordem em que precisam acontecer: 1) conter: parar a fonte e garantir água segura; 2) comunicar: contar a verdade à comunidade e às autoridades; 3) reparar: fundo de reparação, saúde e recuperação ambiental; 4) governar: comitê ESG, auditoria externa e canal de denúncia, para que a decisão de esconder nunca mais seja possível; 5) prevenir: trocar o insumo, monitorar e certificar a gestão ambiental. Mostre que isso cobre todos os itens do desafio do Grupo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(≈1min30). Para não ficar só no discurso, cada ação tem o que fazer, responsável, indicador e prazo. CLIQUE para o cronograma aparecer barra por barra. Destaque três pontos: a contenção e a comunicação acontecem no primeiro mês, junto com o aviso ao órgão ambiental (relacionamento com órgãos públicos); a reparação inclui saúde e compra voluntária de imóveis a preço justo, diferente do que a empresa fez no filme; e a prevenção fecha o ciclo em até 24 meses com a troca do insumo e a certificação ISO 14001.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 min). ESG se prova com números. CLIQUE para a primeira meta de cada pilar e CLIQUE de novo para a segunda. No ambiental: zero poços acima do limite legal em 24 meses e 100% dos resíduos com destinação certificada; no social: exames para todas as famílias afetadas em 6 meses e pelo menos 70% de confiança da comunidade; na governança: resposta a toda denúncia em até 30 dias e um relatório de sustentabilidade auditado por ano, no padrão GRI. Deixe claro que são metas propostas pelo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(≈1min30). Leia a pergunta provocadora do nosso desafio e devolva para a turma: “O que vocês fariam?”. Ouça uma ou duas respostas. Depois CLIQUE para revelar nossa resposta em quatro verbos: parar, contar, reparar e mudar. CLIQUE de novo para a frase final: o mais importante é agir antes de ser obrigada, porque, como o filme mostra, a verdade aparece de qualquer jeito, e esconder só aumenta o custo. Em seguida, mostre que a nossa proposta de intervenção detalha esses quatro verbos.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(≈45 s). Complete a frase da professora em voz alta: depois de analisar o filme, percebemos que uma empresa socialmente responsável precisa tratar a comunidade como stakeholder, contar a verdade antes que alguém precise descobri-la, levar a responsabilidade socioambiental para as decisões do conselho e medir, publicar e corrigir. CLIQUE para a frase final: responsabilidade vira prática quando está na governança e nos indicadores, e não só na propaganda.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(≈30 s + debate). Agradeçam e lancem a pergunta para o debate: “Vocês comprariam de uma empresa que escondeu um problema assim, se o preço fosse mais baixo?”. Ela conecta o tema com o comportamento do consumidor e com a Gestão Comercial. Abram para perguntas da professora e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ESG em Cena · Erin Brockovich · Grupo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ESG em Cena · Erin Brockovich · Grupo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AMB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Hinkley ao entardecer: estação de compressão de gás, caixa-d'água e casas no deser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a0_1_k"/>
          <p:cNvSpPr txBox="1"/>
          <p:nvPr/>
        </p:nvSpPr>
        <p:spPr>
          <a:xfrm>
            <a:off x="548640" y="548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SEMINÁRIO ESG EM CENA · RESPONSABILIDADE SOCIOAMBIENTAL ALÉM DO DISCURSO</a:t>
            </a:r>
            <a:endParaRPr lang="en-US" sz="1100" dirty="0"/>
          </a:p>
        </p:txBody>
      </p:sp>
      <p:sp>
        <p:nvSpPr>
          <p:cNvPr id="4" name="a0_2_t"/>
          <p:cNvSpPr txBox="1"/>
          <p:nvPr/>
        </p:nvSpPr>
        <p:spPr>
          <a:xfrm>
            <a:off x="548640" y="1463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BROCKOVICH</a:t>
            </a:r>
            <a:endParaRPr lang="en-US" sz="5000" dirty="0"/>
          </a:p>
        </p:txBody>
      </p:sp>
      <p:sp>
        <p:nvSpPr>
          <p:cNvPr id="5" name="a0_3_q"/>
          <p:cNvSpPr txBox="1"/>
          <p:nvPr/>
        </p:nvSpPr>
        <p:spPr>
          <a:xfrm>
            <a:off x="548640" y="3383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O que uma empresa deve fazer quando a sua operação adoece uma comunidade?</a:t>
            </a:r>
            <a:endParaRPr lang="en-US" sz="1800" dirty="0"/>
          </a:p>
        </p:txBody>
      </p:sp>
      <p:sp>
        <p:nvSpPr>
          <p:cNvPr id="6" name="a0_4_g"/>
          <p:cNvSpPr txBox="1"/>
          <p:nvPr/>
        </p:nvSpPr>
        <p:spPr>
          <a:xfrm>
            <a:off x="548640" y="4572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GRUPO 3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Ian Cavalcante · Ana Beatriz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Matheus Beserra · Theo Arslanian</a:t>
            </a:r>
            <a:endParaRPr lang="en-US" sz="1200" dirty="0"/>
          </a:p>
        </p:txBody>
      </p:sp>
      <p:sp>
        <p:nvSpPr>
          <p:cNvPr id="7" name="a0_5_c"/>
          <p:cNvSpPr txBox="1"/>
          <p:nvPr/>
        </p:nvSpPr>
        <p:spPr>
          <a:xfrm>
            <a:off x="54864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Responsabilidade Socioambiental · Gestão Comercial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Fatec Ipiranga · Profa. Sandra Joyce Souza · 29.10.2026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uma torneira pingando uma gota âmbar num copo d'águ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O PROBLEMA CENTRAL · LEVANTEM A MÃO</a:t>
            </a:r>
            <a:endParaRPr lang="en-US" sz="1200" dirty="0"/>
          </a:p>
        </p:txBody>
      </p:sp>
      <p:sp>
        <p:nvSpPr>
          <p:cNvPr id="4" name="a0_1_t"/>
          <p:cNvSpPr txBox="1"/>
          <p:nvPr/>
        </p:nvSpPr>
        <p:spPr>
          <a:xfrm>
            <a:off x="548640" y="12801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BEBERIA ESTA ÁGUA?</a:t>
            </a:r>
            <a:endParaRPr lang="en-US" sz="4800" dirty="0"/>
          </a:p>
        </p:txBody>
      </p:sp>
      <p:sp>
        <p:nvSpPr>
          <p:cNvPr id="5" name="a0_2_b"/>
          <p:cNvSpPr txBox="1"/>
          <p:nvPr/>
        </p:nvSpPr>
        <p:spPr>
          <a:xfrm>
            <a:off x="548640" y="2926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Numa pequena cidade do deserto da Califórnia, centenas de famílias ouviram da empresa vizinha que a água da torneira era segura.</a:t>
            </a:r>
            <a:endParaRPr lang="en-US" sz="2000" dirty="0"/>
          </a:p>
        </p:txBody>
      </p:sp>
      <p:sp>
        <p:nvSpPr>
          <p:cNvPr id="6" name="a1_0_r"/>
          <p:cNvSpPr txBox="1"/>
          <p:nvPr/>
        </p:nvSpPr>
        <p:spPr>
          <a:xfrm>
            <a:off x="548640" y="4160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não era.</a:t>
            </a:r>
            <a:endParaRPr lang="en-US" sz="4000" dirty="0"/>
          </a:p>
        </p:txBody>
      </p:sp>
      <p:sp>
        <p:nvSpPr>
          <p:cNvPr id="7" name="a1_1_bg"/>
          <p:cNvSpPr/>
          <p:nvPr/>
        </p:nvSpPr>
        <p:spPr>
          <a:xfrm>
            <a:off x="548640" y="5074920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a1_2_t"/>
          <p:cNvSpPr txBox="1"/>
          <p:nvPr/>
        </p:nvSpPr>
        <p:spPr>
          <a:xfrm>
            <a:off x="777240" y="50749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VOCÊ SABIA?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cromo hexavalente é invisível ao paladar em baixas concentrações e é classificado como cancerígeno para humanos (Grupo 1 da IARC/OMS).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IDENTIFICAÇÃO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FILME, GRUPO E DISCIPLINA</a:t>
            </a:r>
            <a:endParaRPr lang="en-US" sz="2800" dirty="0"/>
          </a:p>
        </p:txBody>
      </p:sp>
      <p:pic>
        <p:nvPicPr>
          <p:cNvPr id="4" name="a0_0_img" descr="Ilustração de claquete de cinema com o título Erin Brockovi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343400" cy="4343400"/>
          </a:xfrm>
          <a:prstGeom prst="rect">
            <a:avLst/>
          </a:prstGeom>
        </p:spPr>
      </p:pic>
      <p:sp>
        <p:nvSpPr>
          <p:cNvPr id="5" name="a0_1_f"/>
          <p:cNvSpPr txBox="1"/>
          <p:nvPr/>
        </p:nvSpPr>
        <p:spPr>
          <a:xfrm>
            <a:off x="5257800" y="1600200"/>
            <a:ext cx="6293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NOME DO FILME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Erin Brockovich – Uma Mulher de Talento (2000)</a:t>
            </a:r>
            <a:endParaRPr lang="en-US" sz="1000" dirty="0"/>
          </a:p>
        </p:txBody>
      </p:sp>
      <p:sp>
        <p:nvSpPr>
          <p:cNvPr id="6" name="a0_2_f"/>
          <p:cNvSpPr txBox="1"/>
          <p:nvPr/>
        </p:nvSpPr>
        <p:spPr>
          <a:xfrm>
            <a:off x="5257800" y="2167128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INTEGRANTES · GRUPO 3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Ian, Ana Beatriz, Matheus e Theo</a:t>
            </a:r>
            <a:endParaRPr lang="en-US" sz="1000" dirty="0"/>
          </a:p>
        </p:txBody>
      </p:sp>
      <p:sp>
        <p:nvSpPr>
          <p:cNvPr id="7" name="a0_3_f"/>
          <p:cNvSpPr txBox="1"/>
          <p:nvPr/>
        </p:nvSpPr>
        <p:spPr>
          <a:xfrm>
            <a:off x="8450428" y="2167128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DISCIPLINA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Responsabilidade Socioambiental</a:t>
            </a:r>
            <a:endParaRPr lang="en-US" sz="1000" dirty="0"/>
          </a:p>
        </p:txBody>
      </p:sp>
      <p:sp>
        <p:nvSpPr>
          <p:cNvPr id="8" name="a0_4_f"/>
          <p:cNvSpPr txBox="1"/>
          <p:nvPr/>
        </p:nvSpPr>
        <p:spPr>
          <a:xfrm>
            <a:off x="5257800" y="2734056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CURSO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Gestão Comercial · Fatec Ipiranga</a:t>
            </a:r>
            <a:endParaRPr lang="en-US" sz="1000" dirty="0"/>
          </a:p>
        </p:txBody>
      </p:sp>
      <p:sp>
        <p:nvSpPr>
          <p:cNvPr id="9" name="a0_5_f"/>
          <p:cNvSpPr txBox="1"/>
          <p:nvPr/>
        </p:nvSpPr>
        <p:spPr>
          <a:xfrm>
            <a:off x="8450428" y="2734056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PROFESSORA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Profa. Sandra Joyce Souza</a:t>
            </a:r>
            <a:endParaRPr lang="en-US" sz="1000" dirty="0"/>
          </a:p>
        </p:txBody>
      </p:sp>
      <p:sp>
        <p:nvSpPr>
          <p:cNvPr id="10" name="a0_6_cb"/>
          <p:cNvSpPr/>
          <p:nvPr/>
        </p:nvSpPr>
        <p:spPr>
          <a:xfrm>
            <a:off x="5257800" y="3383280"/>
            <a:ext cx="63852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7_ct"/>
          <p:cNvSpPr txBox="1"/>
          <p:nvPr/>
        </p:nvSpPr>
        <p:spPr>
          <a:xfrm>
            <a:off x="5486400" y="3474720"/>
            <a:ext cx="59280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CONTEXTO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Drama real de Steven Soderbergh (Oscar de Melhor Atriz para Julia Roberts). Hinkley, Califórnia, anos 1990: Erin, mãe de três filhos e sem formação jurídica, descobre que uma companhia de energia contaminou a água da cidade com cromo hexavalente, e sabia disso havia anos.</a:t>
            </a:r>
            <a:endParaRPr lang="en-US" sz="1000" dirty="0"/>
          </a:p>
        </p:txBody>
      </p:sp>
      <p:sp>
        <p:nvSpPr>
          <p:cNvPr id="12" name="a0_8_in_bg"/>
          <p:cNvSpPr/>
          <p:nvPr/>
        </p:nvSpPr>
        <p:spPr>
          <a:xfrm>
            <a:off x="5257800" y="5029200"/>
            <a:ext cx="638525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8_in_icc"/>
          <p:cNvSpPr/>
          <p:nvPr/>
        </p:nvSpPr>
        <p:spPr>
          <a:xfrm>
            <a:off x="5440680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0_8_in_ic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5376672"/>
            <a:ext cx="219456" cy="219456"/>
          </a:xfrm>
          <a:prstGeom prst="rect">
            <a:avLst/>
          </a:prstGeom>
        </p:spPr>
      </p:pic>
      <p:sp>
        <p:nvSpPr>
          <p:cNvPr id="15" name="a0_8_in_t"/>
          <p:cNvSpPr txBox="1"/>
          <p:nvPr/>
        </p:nvSpPr>
        <p:spPr>
          <a:xfrm>
            <a:off x="6035040" y="5029200"/>
            <a:ext cx="5425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filme deu rosto a um problema técnico e transformou um processo judicial em dano de reputação global.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ROTEIRO DA APRESENTAÇÃO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FILME É O CASO. NÓS SOMOS OS CONSULTORES.</a:t>
            </a:r>
            <a:endParaRPr lang="en-US" sz="2800" dirty="0"/>
          </a:p>
        </p:txBody>
      </p:sp>
      <p:sp>
        <p:nvSpPr>
          <p:cNvPr id="4" name="a0_0_sc"/>
          <p:cNvSpPr txBox="1"/>
          <p:nvPr/>
        </p:nvSpPr>
        <p:spPr>
          <a:xfrm>
            <a:off x="548640" y="1600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Cenário: uma companhia de energia nos contrata ao descobrir que um produto químico usado na sua operação chegou à água da comunidade vizinha. Nosso trabalho é diagnosticar o problema e propor a saída.</a:t>
            </a:r>
            <a:endParaRPr lang="en-US" sz="1700" dirty="0"/>
          </a:p>
        </p:txBody>
      </p:sp>
      <p:sp>
        <p:nvSpPr>
          <p:cNvPr id="5" name="a0_1_bg"/>
          <p:cNvSpPr/>
          <p:nvPr/>
        </p:nvSpPr>
        <p:spPr>
          <a:xfrm>
            <a:off x="548640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0_1_n"/>
          <p:cNvSpPr txBox="1"/>
          <p:nvPr/>
        </p:nvSpPr>
        <p:spPr>
          <a:xfrm>
            <a:off x="73152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a0_1c"/>
          <p:cNvSpPr/>
          <p:nvPr/>
        </p:nvSpPr>
        <p:spPr>
          <a:xfrm>
            <a:off x="73152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0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3492094"/>
            <a:ext cx="285293" cy="285293"/>
          </a:xfrm>
          <a:prstGeom prst="rect">
            <a:avLst/>
          </a:prstGeom>
        </p:spPr>
      </p:pic>
      <p:sp>
        <p:nvSpPr>
          <p:cNvPr id="9" name="a0_1_l"/>
          <p:cNvSpPr txBox="1"/>
          <p:nvPr/>
        </p:nvSpPr>
        <p:spPr>
          <a:xfrm>
            <a:off x="731520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PROBLEMA CENTRAL</a:t>
            </a:r>
            <a:endParaRPr lang="en-US" sz="1300" dirty="0"/>
          </a:p>
        </p:txBody>
      </p:sp>
      <p:pic>
        <p:nvPicPr>
          <p:cNvPr id="10" name="a0_1_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893" y="3657600"/>
            <a:ext cx="164592" cy="274320"/>
          </a:xfrm>
          <a:prstGeom prst="rect">
            <a:avLst/>
          </a:prstGeom>
        </p:spPr>
      </p:pic>
      <p:sp>
        <p:nvSpPr>
          <p:cNvPr id="11" name="a0_2_bg"/>
          <p:cNvSpPr/>
          <p:nvPr/>
        </p:nvSpPr>
        <p:spPr>
          <a:xfrm>
            <a:off x="2452969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0_2_n"/>
          <p:cNvSpPr txBox="1"/>
          <p:nvPr/>
        </p:nvSpPr>
        <p:spPr>
          <a:xfrm>
            <a:off x="2635849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a0_2c"/>
          <p:cNvSpPr/>
          <p:nvPr/>
        </p:nvSpPr>
        <p:spPr>
          <a:xfrm>
            <a:off x="2635849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383" y="3492094"/>
            <a:ext cx="285293" cy="285293"/>
          </a:xfrm>
          <a:prstGeom prst="rect">
            <a:avLst/>
          </a:prstGeom>
        </p:spPr>
      </p:pic>
      <p:sp>
        <p:nvSpPr>
          <p:cNvPr id="15" name="a0_2_l"/>
          <p:cNvSpPr txBox="1"/>
          <p:nvPr/>
        </p:nvSpPr>
        <p:spPr>
          <a:xfrm>
            <a:off x="2635849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STAKEHOLDERS</a:t>
            </a:r>
            <a:endParaRPr lang="en-US" sz="1300" dirty="0"/>
          </a:p>
        </p:txBody>
      </p:sp>
      <p:pic>
        <p:nvPicPr>
          <p:cNvPr id="16" name="a0_2_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222" y="3657600"/>
            <a:ext cx="164592" cy="274320"/>
          </a:xfrm>
          <a:prstGeom prst="rect">
            <a:avLst/>
          </a:prstGeom>
        </p:spPr>
      </p:pic>
      <p:sp>
        <p:nvSpPr>
          <p:cNvPr id="17" name="a0_3_bg"/>
          <p:cNvSpPr/>
          <p:nvPr/>
        </p:nvSpPr>
        <p:spPr>
          <a:xfrm>
            <a:off x="4357299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0_3_n"/>
          <p:cNvSpPr txBox="1"/>
          <p:nvPr/>
        </p:nvSpPr>
        <p:spPr>
          <a:xfrm>
            <a:off x="4540179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a0_3c"/>
          <p:cNvSpPr/>
          <p:nvPr/>
        </p:nvSpPr>
        <p:spPr>
          <a:xfrm>
            <a:off x="4540179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0_3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712" y="3492094"/>
            <a:ext cx="285293" cy="285293"/>
          </a:xfrm>
          <a:prstGeom prst="rect">
            <a:avLst/>
          </a:prstGeom>
        </p:spPr>
      </p:pic>
      <p:sp>
        <p:nvSpPr>
          <p:cNvPr id="21" name="a0_3_l"/>
          <p:cNvSpPr txBox="1"/>
          <p:nvPr/>
        </p:nvSpPr>
        <p:spPr>
          <a:xfrm>
            <a:off x="4540179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PAPEL DA EMPRESA</a:t>
            </a:r>
            <a:endParaRPr lang="en-US" sz="1300" dirty="0"/>
          </a:p>
        </p:txBody>
      </p:sp>
      <p:pic>
        <p:nvPicPr>
          <p:cNvPr id="22" name="a0_3_a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552" y="3657600"/>
            <a:ext cx="164592" cy="274320"/>
          </a:xfrm>
          <a:prstGeom prst="rect">
            <a:avLst/>
          </a:prstGeom>
        </p:spPr>
      </p:pic>
      <p:sp>
        <p:nvSpPr>
          <p:cNvPr id="23" name="a0_4_bg"/>
          <p:cNvSpPr/>
          <p:nvPr/>
        </p:nvSpPr>
        <p:spPr>
          <a:xfrm>
            <a:off x="6261628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4_n"/>
          <p:cNvSpPr txBox="1"/>
          <p:nvPr/>
        </p:nvSpPr>
        <p:spPr>
          <a:xfrm>
            <a:off x="6444508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a0_4c"/>
          <p:cNvSpPr/>
          <p:nvPr/>
        </p:nvSpPr>
        <p:spPr>
          <a:xfrm>
            <a:off x="6444508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a0_4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042" y="3492094"/>
            <a:ext cx="285293" cy="285293"/>
          </a:xfrm>
          <a:prstGeom prst="rect">
            <a:avLst/>
          </a:prstGeom>
        </p:spPr>
      </p:pic>
      <p:sp>
        <p:nvSpPr>
          <p:cNvPr id="27" name="a0_4_l"/>
          <p:cNvSpPr txBox="1"/>
          <p:nvPr/>
        </p:nvSpPr>
        <p:spPr>
          <a:xfrm>
            <a:off x="6444508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GESTÃO COMERCIAL</a:t>
            </a:r>
            <a:endParaRPr lang="en-US" sz="1300" dirty="0"/>
          </a:p>
        </p:txBody>
      </p:sp>
      <p:pic>
        <p:nvPicPr>
          <p:cNvPr id="28" name="a0_4_a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7881" y="3657600"/>
            <a:ext cx="164592" cy="274320"/>
          </a:xfrm>
          <a:prstGeom prst="rect">
            <a:avLst/>
          </a:prstGeom>
        </p:spPr>
      </p:pic>
      <p:sp>
        <p:nvSpPr>
          <p:cNvPr id="29" name="a0_5_bg"/>
          <p:cNvSpPr/>
          <p:nvPr/>
        </p:nvSpPr>
        <p:spPr>
          <a:xfrm>
            <a:off x="8165958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0_5_n"/>
          <p:cNvSpPr txBox="1"/>
          <p:nvPr/>
        </p:nvSpPr>
        <p:spPr>
          <a:xfrm>
            <a:off x="8348838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a0_5c"/>
          <p:cNvSpPr/>
          <p:nvPr/>
        </p:nvSpPr>
        <p:spPr>
          <a:xfrm>
            <a:off x="8348838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a0_5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371" y="3492094"/>
            <a:ext cx="285293" cy="285293"/>
          </a:xfrm>
          <a:prstGeom prst="rect">
            <a:avLst/>
          </a:prstGeom>
        </p:spPr>
      </p:pic>
      <p:sp>
        <p:nvSpPr>
          <p:cNvPr id="33" name="a0_5_l"/>
          <p:cNvSpPr txBox="1"/>
          <p:nvPr/>
        </p:nvSpPr>
        <p:spPr>
          <a:xfrm>
            <a:off x="8348838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PERGUNTA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PROVOCADORA</a:t>
            </a:r>
            <a:endParaRPr lang="en-US" sz="1300" dirty="0"/>
          </a:p>
        </p:txBody>
      </p:sp>
      <p:pic>
        <p:nvPicPr>
          <p:cNvPr id="34" name="a0_5_ar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2210" y="3657600"/>
            <a:ext cx="164592" cy="274320"/>
          </a:xfrm>
          <a:prstGeom prst="rect">
            <a:avLst/>
          </a:prstGeom>
        </p:spPr>
      </p:pic>
      <p:sp>
        <p:nvSpPr>
          <p:cNvPr id="35" name="a0_6_bg"/>
          <p:cNvSpPr/>
          <p:nvPr/>
        </p:nvSpPr>
        <p:spPr>
          <a:xfrm>
            <a:off x="10070287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a0_6_n"/>
          <p:cNvSpPr txBox="1"/>
          <p:nvPr/>
        </p:nvSpPr>
        <p:spPr>
          <a:xfrm>
            <a:off x="10253167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06</a:t>
            </a:r>
            <a:endParaRPr lang="en-US" sz="2000" dirty="0"/>
          </a:p>
        </p:txBody>
      </p:sp>
      <p:sp>
        <p:nvSpPr>
          <p:cNvPr id="37" name="a0_6c"/>
          <p:cNvSpPr/>
          <p:nvPr/>
        </p:nvSpPr>
        <p:spPr>
          <a:xfrm>
            <a:off x="10253167" y="333756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8" name="a0_6i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7701" y="3492094"/>
            <a:ext cx="285293" cy="285293"/>
          </a:xfrm>
          <a:prstGeom prst="rect">
            <a:avLst/>
          </a:prstGeom>
        </p:spPr>
      </p:pic>
      <p:sp>
        <p:nvSpPr>
          <p:cNvPr id="39" name="a0_6_l"/>
          <p:cNvSpPr txBox="1"/>
          <p:nvPr/>
        </p:nvSpPr>
        <p:spPr>
          <a:xfrm>
            <a:off x="10253167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PROPOSTA</a:t>
            </a:r>
            <a:endParaRPr lang="en-US" sz="1300" dirty="0"/>
          </a:p>
        </p:txBody>
      </p:sp>
      <p:sp>
        <p:nvSpPr>
          <p:cNvPr id="40" name="a0_7_in_bg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a0_7_in_icc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a0_7_in_ici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" y="5559552"/>
            <a:ext cx="219456" cy="219456"/>
          </a:xfrm>
          <a:prstGeom prst="rect">
            <a:avLst/>
          </a:prstGeom>
        </p:spPr>
      </p:pic>
      <p:sp>
        <p:nvSpPr>
          <p:cNvPr id="43" name="a0_7_in_t"/>
          <p:cNvSpPr txBox="1"/>
          <p:nvPr/>
        </p:nvSpPr>
        <p:spPr>
          <a:xfrm>
            <a:off x="1325880" y="5257800"/>
            <a:ext cx="10134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Seguimos a lógica de uma consultoria: diagnóstico antes da solução, e toda proposta amarrada a um indicador.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PROBLEMA CENTRAL · LINHA DO TEMPO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ANOS ENTRE O PRIMEIRO DESCARTE E A INDENIZAÇÃO</a:t>
            </a:r>
            <a:endParaRPr lang="en-US" sz="2800" dirty="0"/>
          </a:p>
        </p:txBody>
      </p:sp>
      <p:sp>
        <p:nvSpPr>
          <p:cNvPr id="4" name="a0_0_line_wipe"/>
          <p:cNvSpPr/>
          <p:nvPr/>
        </p:nvSpPr>
        <p:spPr>
          <a:xfrm>
            <a:off x="1691640" y="3771900"/>
            <a:ext cx="8808415" cy="457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0_1_span_wipe"/>
          <p:cNvSpPr/>
          <p:nvPr/>
        </p:nvSpPr>
        <p:spPr>
          <a:xfrm>
            <a:off x="1691640" y="3749040"/>
            <a:ext cx="5033380" cy="91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a0_1_spl"/>
          <p:cNvSpPr txBox="1"/>
          <p:nvPr/>
        </p:nvSpPr>
        <p:spPr>
          <a:xfrm>
            <a:off x="320249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44 anos até a reparação</a:t>
            </a:r>
            <a:endParaRPr lang="en-US" sz="1100" dirty="0"/>
          </a:p>
        </p:txBody>
      </p:sp>
      <p:sp>
        <p:nvSpPr>
          <p:cNvPr id="7" name="a0_2_d"/>
          <p:cNvSpPr/>
          <p:nvPr/>
        </p:nvSpPr>
        <p:spPr>
          <a:xfrm>
            <a:off x="1572768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8" name="a0_2_l"/>
          <p:cNvSpPr/>
          <p:nvPr/>
        </p:nvSpPr>
        <p:spPr>
          <a:xfrm>
            <a:off x="1691640" y="329184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a0_2_t"/>
          <p:cNvSpPr txBox="1"/>
          <p:nvPr/>
        </p:nvSpPr>
        <p:spPr>
          <a:xfrm>
            <a:off x="594360" y="1691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1952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estação de gás de Hinkley passa a usar cromo hexavalente contra a corrosão.</a:t>
            </a:r>
            <a:endParaRPr lang="en-US" sz="2200" dirty="0"/>
          </a:p>
        </p:txBody>
      </p:sp>
      <p:sp>
        <p:nvSpPr>
          <p:cNvPr id="10" name="a0_3_d"/>
          <p:cNvSpPr/>
          <p:nvPr/>
        </p:nvSpPr>
        <p:spPr>
          <a:xfrm>
            <a:off x="2831113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1" name="a0_3_l"/>
          <p:cNvSpPr/>
          <p:nvPr/>
        </p:nvSpPr>
        <p:spPr>
          <a:xfrm>
            <a:off x="2949985" y="393192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a0_3_t"/>
          <p:cNvSpPr txBox="1"/>
          <p:nvPr/>
        </p:nvSpPr>
        <p:spPr>
          <a:xfrm>
            <a:off x="1852705" y="4343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1966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Fim do descarte em lagoas sem revestimento. O cromo já está no lençol freático.</a:t>
            </a:r>
            <a:endParaRPr lang="en-US" sz="2200" dirty="0"/>
          </a:p>
        </p:txBody>
      </p:sp>
      <p:sp>
        <p:nvSpPr>
          <p:cNvPr id="13" name="a0_4_d"/>
          <p:cNvSpPr/>
          <p:nvPr/>
        </p:nvSpPr>
        <p:spPr>
          <a:xfrm>
            <a:off x="4089458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4" name="a0_4_l"/>
          <p:cNvSpPr/>
          <p:nvPr/>
        </p:nvSpPr>
        <p:spPr>
          <a:xfrm>
            <a:off x="4208330" y="329184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a0_4_t"/>
          <p:cNvSpPr txBox="1"/>
          <p:nvPr/>
        </p:nvSpPr>
        <p:spPr>
          <a:xfrm>
            <a:off x="3111050" y="1691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1987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empresa comunica a contaminação ao órgão regional de águas.</a:t>
            </a:r>
            <a:endParaRPr lang="en-US" sz="2200" dirty="0"/>
          </a:p>
        </p:txBody>
      </p:sp>
      <p:sp>
        <p:nvSpPr>
          <p:cNvPr id="16" name="a0_5_d"/>
          <p:cNvSpPr/>
          <p:nvPr/>
        </p:nvSpPr>
        <p:spPr>
          <a:xfrm>
            <a:off x="5347803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7" name="a0_5_l"/>
          <p:cNvSpPr/>
          <p:nvPr/>
        </p:nvSpPr>
        <p:spPr>
          <a:xfrm>
            <a:off x="5466675" y="393192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8" name="a0_5_t"/>
          <p:cNvSpPr txBox="1"/>
          <p:nvPr/>
        </p:nvSpPr>
        <p:spPr>
          <a:xfrm>
            <a:off x="4369395" y="4343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1993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Erin Brockovich e o escritório Masry &amp; Vititoe reúnem os moradores na Justiça.</a:t>
            </a:r>
            <a:endParaRPr lang="en-US" sz="2200" dirty="0"/>
          </a:p>
        </p:txBody>
      </p:sp>
      <p:sp>
        <p:nvSpPr>
          <p:cNvPr id="19" name="a0_6_d"/>
          <p:cNvSpPr/>
          <p:nvPr/>
        </p:nvSpPr>
        <p:spPr>
          <a:xfrm>
            <a:off x="6606148" y="3675888"/>
            <a:ext cx="237744" cy="237744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0" name="a0_6_l"/>
          <p:cNvSpPr/>
          <p:nvPr/>
        </p:nvSpPr>
        <p:spPr>
          <a:xfrm>
            <a:off x="6725020" y="329184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1" name="a0_6_t"/>
          <p:cNvSpPr txBox="1"/>
          <p:nvPr/>
        </p:nvSpPr>
        <p:spPr>
          <a:xfrm>
            <a:off x="5627740" y="1691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1996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Acordo de US$ 333 milhões com mais de 600 moradores.</a:t>
            </a:r>
            <a:endParaRPr lang="en-US" sz="2200" dirty="0"/>
          </a:p>
        </p:txBody>
      </p:sp>
      <p:sp>
        <p:nvSpPr>
          <p:cNvPr id="22" name="a0_7_d"/>
          <p:cNvSpPr/>
          <p:nvPr/>
        </p:nvSpPr>
        <p:spPr>
          <a:xfrm>
            <a:off x="7864493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3" name="a0_7_l"/>
          <p:cNvSpPr/>
          <p:nvPr/>
        </p:nvSpPr>
        <p:spPr>
          <a:xfrm>
            <a:off x="7983365" y="393192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4" name="a0_7_t"/>
          <p:cNvSpPr txBox="1"/>
          <p:nvPr/>
        </p:nvSpPr>
        <p:spPr>
          <a:xfrm>
            <a:off x="6886085" y="4343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2000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Estreia do filme. Julia Roberts leva o Oscar em 2001.</a:t>
            </a:r>
            <a:endParaRPr lang="en-US" sz="2200" dirty="0"/>
          </a:p>
        </p:txBody>
      </p:sp>
      <p:sp>
        <p:nvSpPr>
          <p:cNvPr id="25" name="a0_8_d"/>
          <p:cNvSpPr/>
          <p:nvPr/>
        </p:nvSpPr>
        <p:spPr>
          <a:xfrm>
            <a:off x="9122838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6" name="a0_8_l"/>
          <p:cNvSpPr/>
          <p:nvPr/>
        </p:nvSpPr>
        <p:spPr>
          <a:xfrm>
            <a:off x="9241710" y="329184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7" name="a0_8_t"/>
          <p:cNvSpPr txBox="1"/>
          <p:nvPr/>
        </p:nvSpPr>
        <p:spPr>
          <a:xfrm>
            <a:off x="8144430" y="1691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2006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Novo acordo de US$ 295 milhões em casos de outras unidades.</a:t>
            </a:r>
            <a:endParaRPr lang="en-US" sz="2200" dirty="0"/>
          </a:p>
        </p:txBody>
      </p:sp>
      <p:sp>
        <p:nvSpPr>
          <p:cNvPr id="28" name="a0_9_d"/>
          <p:cNvSpPr/>
          <p:nvPr/>
        </p:nvSpPr>
        <p:spPr>
          <a:xfrm>
            <a:off x="10381183" y="367588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9" name="a0_9_l"/>
          <p:cNvSpPr/>
          <p:nvPr/>
        </p:nvSpPr>
        <p:spPr>
          <a:xfrm>
            <a:off x="10500055" y="3931920"/>
            <a:ext cx="0" cy="365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0" name="a0_9_t"/>
          <p:cNvSpPr txBox="1"/>
          <p:nvPr/>
        </p:nvSpPr>
        <p:spPr>
          <a:xfrm>
            <a:off x="9402775" y="4343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HOJE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limpeza do lençol freático continua e boa parte da cidade foi esvaziada.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PROBLEMA CENTRAL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SABIA DO RISCO E ESCOLHEU O SILÊNCIO</a:t>
            </a:r>
            <a:endParaRPr lang="en-US" sz="2800" dirty="0"/>
          </a:p>
        </p:txBody>
      </p:sp>
      <p:pic>
        <p:nvPicPr>
          <p:cNvPr id="4" name="a0_0_img" descr="Corte do solo: lagoa sem revestimento, infiltração até o lençol freático e mancha de cromo chegando aos poços das ca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017520"/>
          </a:xfrm>
          <a:prstGeom prst="rect">
            <a:avLst/>
          </a:prstGeom>
        </p:spPr>
      </p:pic>
      <p:sp>
        <p:nvSpPr>
          <p:cNvPr id="5" name="a0_1_lc"/>
          <p:cNvSpPr/>
          <p:nvPr/>
        </p:nvSpPr>
        <p:spPr>
          <a:xfrm>
            <a:off x="54864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a0_1_ln"/>
          <p:cNvSpPr txBox="1"/>
          <p:nvPr/>
        </p:nvSpPr>
        <p:spPr>
          <a:xfrm>
            <a:off x="54864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a0_1_lt"/>
          <p:cNvSpPr txBox="1"/>
          <p:nvPr/>
        </p:nvSpPr>
        <p:spPr>
          <a:xfrm>
            <a:off x="96012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Lagoas sem revestimento recebem a água com cromo</a:t>
            </a:r>
            <a:endParaRPr lang="en-US" sz="1200" dirty="0"/>
          </a:p>
        </p:txBody>
      </p:sp>
      <p:sp>
        <p:nvSpPr>
          <p:cNvPr id="8" name="a0_2_lc"/>
          <p:cNvSpPr/>
          <p:nvPr/>
        </p:nvSpPr>
        <p:spPr>
          <a:xfrm>
            <a:off x="256032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0_2_ln"/>
          <p:cNvSpPr txBox="1"/>
          <p:nvPr/>
        </p:nvSpPr>
        <p:spPr>
          <a:xfrm>
            <a:off x="256032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a0_2_lt"/>
          <p:cNvSpPr txBox="1"/>
          <p:nvPr/>
        </p:nvSpPr>
        <p:spPr>
          <a:xfrm>
            <a:off x="297180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cromo infiltra e chega ao lençol freático</a:t>
            </a:r>
            <a:endParaRPr lang="en-US" sz="1200" dirty="0"/>
          </a:p>
        </p:txBody>
      </p:sp>
      <p:sp>
        <p:nvSpPr>
          <p:cNvPr id="11" name="a0_3_lc"/>
          <p:cNvSpPr/>
          <p:nvPr/>
        </p:nvSpPr>
        <p:spPr>
          <a:xfrm>
            <a:off x="457200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a0_3_ln"/>
          <p:cNvSpPr txBox="1"/>
          <p:nvPr/>
        </p:nvSpPr>
        <p:spPr>
          <a:xfrm>
            <a:off x="457200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a0_3_lt"/>
          <p:cNvSpPr txBox="1"/>
          <p:nvPr/>
        </p:nvSpPr>
        <p:spPr>
          <a:xfrm>
            <a:off x="498348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mancha avança até os poços das casas</a:t>
            </a:r>
            <a:endParaRPr lang="en-US" sz="1200" dirty="0"/>
          </a:p>
        </p:txBody>
      </p:sp>
      <p:sp>
        <p:nvSpPr>
          <p:cNvPr id="14" name="a0_4_bg"/>
          <p:cNvSpPr/>
          <p:nvPr/>
        </p:nvSpPr>
        <p:spPr>
          <a:xfrm>
            <a:off x="6949440" y="160020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4_v"/>
          <p:cNvSpPr txBox="1"/>
          <p:nvPr/>
        </p:nvSpPr>
        <p:spPr>
          <a:xfrm>
            <a:off x="7178040" y="16002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1952–1966</a:t>
            </a:r>
            <a:endParaRPr lang="en-US" sz="2400" dirty="0"/>
          </a:p>
        </p:txBody>
      </p:sp>
      <p:sp>
        <p:nvSpPr>
          <p:cNvPr id="16" name="a0_4_d"/>
          <p:cNvSpPr txBox="1"/>
          <p:nvPr/>
        </p:nvSpPr>
        <p:spPr>
          <a:xfrm>
            <a:off x="9235440" y="160020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Descarte de água com cromo em lagoas sem revestimento, ao lado da cidade.</a:t>
            </a:r>
            <a:endParaRPr lang="en-US" sz="1300" dirty="0"/>
          </a:p>
        </p:txBody>
      </p:sp>
      <p:sp>
        <p:nvSpPr>
          <p:cNvPr id="17" name="a0_5_bg"/>
          <p:cNvSpPr/>
          <p:nvPr/>
        </p:nvSpPr>
        <p:spPr>
          <a:xfrm>
            <a:off x="6949440" y="288036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0_5_v"/>
          <p:cNvSpPr txBox="1"/>
          <p:nvPr/>
        </p:nvSpPr>
        <p:spPr>
          <a:xfrm>
            <a:off x="717804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Silêncio</a:t>
            </a:r>
            <a:endParaRPr lang="en-US" sz="2400" dirty="0"/>
          </a:p>
        </p:txBody>
      </p:sp>
      <p:sp>
        <p:nvSpPr>
          <p:cNvPr id="19" name="a0_5_d"/>
          <p:cNvSpPr txBox="1"/>
          <p:nvPr/>
        </p:nvSpPr>
        <p:spPr>
          <a:xfrm>
            <a:off x="9235440" y="288036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moradores recebem informações incompletas e tranquilizadoras sobre a água.</a:t>
            </a:r>
            <a:endParaRPr lang="en-US" sz="1300" dirty="0"/>
          </a:p>
        </p:txBody>
      </p:sp>
      <p:sp>
        <p:nvSpPr>
          <p:cNvPr id="20" name="a0_6_bg"/>
          <p:cNvSpPr/>
          <p:nvPr/>
        </p:nvSpPr>
        <p:spPr>
          <a:xfrm>
            <a:off x="6949440" y="416052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0_6_v"/>
          <p:cNvSpPr txBox="1"/>
          <p:nvPr/>
        </p:nvSpPr>
        <p:spPr>
          <a:xfrm>
            <a:off x="7178040" y="4160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US$ 333 mi</a:t>
            </a:r>
            <a:endParaRPr lang="en-US" sz="2400" dirty="0"/>
          </a:p>
        </p:txBody>
      </p:sp>
      <p:sp>
        <p:nvSpPr>
          <p:cNvPr id="22" name="a0_6_d"/>
          <p:cNvSpPr txBox="1"/>
          <p:nvPr/>
        </p:nvSpPr>
        <p:spPr>
          <a:xfrm>
            <a:off x="9235440" y="416052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Acordo de 1996 com mais de 600 moradores, o maior do tipo nos EUA até então.</a:t>
            </a:r>
            <a:endParaRPr lang="en-US" sz="1300" dirty="0"/>
          </a:p>
        </p:txBody>
      </p:sp>
      <p:sp>
        <p:nvSpPr>
          <p:cNvPr id="23" name="a0_7_in_bg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7_in_icc"/>
          <p:cNvSpPr/>
          <p:nvPr/>
        </p:nvSpPr>
        <p:spPr>
          <a:xfrm>
            <a:off x="731520" y="56464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_7_in_ic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765292"/>
            <a:ext cx="219456" cy="219456"/>
          </a:xfrm>
          <a:prstGeom prst="rect">
            <a:avLst/>
          </a:prstGeom>
        </p:spPr>
      </p:pic>
      <p:sp>
        <p:nvSpPr>
          <p:cNvPr id="26" name="a0_7_in_t"/>
          <p:cNvSpPr txBox="1"/>
          <p:nvPr/>
        </p:nvSpPr>
        <p:spPr>
          <a:xfrm>
            <a:off x="1325880" y="55321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problema central não é só a contaminação: é a decisão de esconder.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PROBLEMA CENTRAL · IMPACTOS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DANO NÃO FICOU DENTRO DO MURO DA EMPRESA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68042"/>
            <a:ext cx="373075" cy="373075"/>
          </a:xfrm>
          <a:prstGeom prst="rect">
            <a:avLst/>
          </a:prstGeom>
        </p:spPr>
      </p:pic>
      <p:sp>
        <p:nvSpPr>
          <p:cNvPr id="7" name="a0_0_h"/>
          <p:cNvSpPr txBox="1"/>
          <p:nvPr/>
        </p:nvSpPr>
        <p:spPr>
          <a:xfrm>
            <a:off x="822960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AMBIENTAL</a:t>
            </a:r>
            <a:endParaRPr lang="en-US" sz="1400" dirty="0"/>
          </a:p>
        </p:txBody>
      </p:sp>
      <p:sp>
        <p:nvSpPr>
          <p:cNvPr id="8" name="a0_0_d"/>
          <p:cNvSpPr txBox="1"/>
          <p:nvPr/>
        </p:nvSpPr>
        <p:spPr>
          <a:xfrm>
            <a:off x="822960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Lençol freático contaminado e uma mancha de cromo que avançou pelo subsolo por décadas.</a:t>
            </a:r>
            <a:endParaRPr lang="en-US" sz="1400" dirty="0"/>
          </a:p>
        </p:txBody>
      </p:sp>
      <p:sp>
        <p:nvSpPr>
          <p:cNvPr id="9" name="a0_1_bg"/>
          <p:cNvSpPr/>
          <p:nvPr/>
        </p:nvSpPr>
        <p:spPr>
          <a:xfrm>
            <a:off x="3390824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0_1c"/>
          <p:cNvSpPr/>
          <p:nvPr/>
        </p:nvSpPr>
        <p:spPr>
          <a:xfrm>
            <a:off x="3665144" y="19659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226" y="2168042"/>
            <a:ext cx="373075" cy="373075"/>
          </a:xfrm>
          <a:prstGeom prst="rect">
            <a:avLst/>
          </a:prstGeom>
        </p:spPr>
      </p:pic>
      <p:sp>
        <p:nvSpPr>
          <p:cNvPr id="12" name="a0_1_h"/>
          <p:cNvSpPr txBox="1"/>
          <p:nvPr/>
        </p:nvSpPr>
        <p:spPr>
          <a:xfrm>
            <a:off x="3665144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SAÚDE</a:t>
            </a:r>
            <a:endParaRPr lang="en-US" sz="1400" dirty="0"/>
          </a:p>
        </p:txBody>
      </p:sp>
      <p:sp>
        <p:nvSpPr>
          <p:cNvPr id="13" name="a0_1_d"/>
          <p:cNvSpPr txBox="1"/>
          <p:nvPr/>
        </p:nvSpPr>
        <p:spPr>
          <a:xfrm>
            <a:off x="3665144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Moradores relatam câncer, problemas respiratórios, abortos espontâneos e outras doenças.</a:t>
            </a:r>
            <a:endParaRPr lang="en-US" sz="1400" dirty="0"/>
          </a:p>
        </p:txBody>
      </p:sp>
      <p:sp>
        <p:nvSpPr>
          <p:cNvPr id="14" name="a0_2_bg"/>
          <p:cNvSpPr/>
          <p:nvPr/>
        </p:nvSpPr>
        <p:spPr>
          <a:xfrm>
            <a:off x="6233008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2c"/>
          <p:cNvSpPr/>
          <p:nvPr/>
        </p:nvSpPr>
        <p:spPr>
          <a:xfrm>
            <a:off x="6507328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2168042"/>
            <a:ext cx="373075" cy="373075"/>
          </a:xfrm>
          <a:prstGeom prst="rect">
            <a:avLst/>
          </a:prstGeom>
        </p:spPr>
      </p:pic>
      <p:sp>
        <p:nvSpPr>
          <p:cNvPr id="17" name="a0_2_h"/>
          <p:cNvSpPr txBox="1"/>
          <p:nvPr/>
        </p:nvSpPr>
        <p:spPr>
          <a:xfrm>
            <a:off x="6507328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SOCIAL</a:t>
            </a:r>
            <a:endParaRPr lang="en-US" sz="1400" dirty="0"/>
          </a:p>
        </p:txBody>
      </p:sp>
      <p:sp>
        <p:nvSpPr>
          <p:cNvPr id="18" name="a0_2_d"/>
          <p:cNvSpPr txBox="1"/>
          <p:nvPr/>
        </p:nvSpPr>
        <p:spPr>
          <a:xfrm>
            <a:off x="6507328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Famílias com medo, imóveis desvalorizados e uma comunidade que não sabe mais em quem confiar.</a:t>
            </a:r>
            <a:endParaRPr lang="en-US" sz="1400" dirty="0"/>
          </a:p>
        </p:txBody>
      </p:sp>
      <p:sp>
        <p:nvSpPr>
          <p:cNvPr id="19" name="a0_3_bg"/>
          <p:cNvSpPr/>
          <p:nvPr/>
        </p:nvSpPr>
        <p:spPr>
          <a:xfrm>
            <a:off x="9075191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0_3c"/>
          <p:cNvSpPr/>
          <p:nvPr/>
        </p:nvSpPr>
        <p:spPr>
          <a:xfrm>
            <a:off x="9349511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594" y="2168042"/>
            <a:ext cx="373075" cy="373075"/>
          </a:xfrm>
          <a:prstGeom prst="rect">
            <a:avLst/>
          </a:prstGeom>
        </p:spPr>
      </p:pic>
      <p:sp>
        <p:nvSpPr>
          <p:cNvPr id="22" name="a0_3_h"/>
          <p:cNvSpPr txBox="1"/>
          <p:nvPr/>
        </p:nvSpPr>
        <p:spPr>
          <a:xfrm>
            <a:off x="9349511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ECONÔMICO E REPUTACIONAL</a:t>
            </a:r>
            <a:endParaRPr lang="en-US" sz="1400" dirty="0"/>
          </a:p>
        </p:txBody>
      </p:sp>
      <p:sp>
        <p:nvSpPr>
          <p:cNvPr id="23" name="a0_3_d"/>
          <p:cNvSpPr txBox="1"/>
          <p:nvPr/>
        </p:nvSpPr>
        <p:spPr>
          <a:xfrm>
            <a:off x="9349511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Indenizações milionárias, anos de processos e uma marca ligada ao caso até hoje.</a:t>
            </a:r>
            <a:endParaRPr lang="en-US" sz="1400" dirty="0"/>
          </a:p>
        </p:txBody>
      </p:sp>
      <p:sp>
        <p:nvSpPr>
          <p:cNvPr id="24" name="a0_4_in_bg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0_4_in_icc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a0_4_in_ic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696712"/>
            <a:ext cx="219456" cy="219456"/>
          </a:xfrm>
          <a:prstGeom prst="rect">
            <a:avLst/>
          </a:prstGeom>
        </p:spPr>
      </p:pic>
      <p:sp>
        <p:nvSpPr>
          <p:cNvPr id="27" name="a0_4_in_t"/>
          <p:cNvSpPr txBox="1"/>
          <p:nvPr/>
        </p:nvSpPr>
        <p:spPr>
          <a:xfrm>
            <a:off x="1325880" y="544068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impacto mais caro não aparece no balanço: a perda de confiança de uma cidade inteira.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QUEM SÃO OS STAKEHOLDERS?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AFETADO E O QUE CADA UM EXIGE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3291840" cy="37947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076602"/>
            <a:ext cx="373075" cy="373075"/>
          </a:xfrm>
          <a:prstGeom prst="rect">
            <a:avLst/>
          </a:prstGeom>
        </p:spPr>
      </p:pic>
      <p:sp>
        <p:nvSpPr>
          <p:cNvPr id="7" name="a0_0_t"/>
          <p:cNvSpPr txBox="1"/>
          <p:nvPr/>
        </p:nvSpPr>
        <p:spPr>
          <a:xfrm>
            <a:off x="822960" y="28346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MAIS AFETADO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Comunidade de Hinkley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Água limpa, verdade, tratamento e reparação.</a:t>
            </a:r>
            <a:endParaRPr lang="en-US" sz="1100" dirty="0"/>
          </a:p>
        </p:txBody>
      </p:sp>
      <p:sp>
        <p:nvSpPr>
          <p:cNvPr id="8" name="a0_1_bg"/>
          <p:cNvSpPr/>
          <p:nvPr/>
        </p:nvSpPr>
        <p:spPr>
          <a:xfrm>
            <a:off x="4114800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c"/>
          <p:cNvSpPr/>
          <p:nvPr/>
        </p:nvSpPr>
        <p:spPr>
          <a:xfrm>
            <a:off x="4297680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901952"/>
            <a:ext cx="219456" cy="219456"/>
          </a:xfrm>
          <a:prstGeom prst="rect">
            <a:avLst/>
          </a:prstGeom>
        </p:spPr>
      </p:pic>
      <p:sp>
        <p:nvSpPr>
          <p:cNvPr id="11" name="a0_1_h"/>
          <p:cNvSpPr txBox="1"/>
          <p:nvPr/>
        </p:nvSpPr>
        <p:spPr>
          <a:xfrm>
            <a:off x="4297680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Funcionários</a:t>
            </a:r>
            <a:endParaRPr lang="en-US" sz="1300" dirty="0"/>
          </a:p>
        </p:txBody>
      </p:sp>
      <p:sp>
        <p:nvSpPr>
          <p:cNvPr id="12" name="a0_1_d"/>
          <p:cNvSpPr txBox="1"/>
          <p:nvPr/>
        </p:nvSpPr>
        <p:spPr>
          <a:xfrm>
            <a:off x="4297680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Segurança no trabalho e orgulho da empresa.</a:t>
            </a:r>
            <a:endParaRPr lang="en-US" sz="1200" dirty="0"/>
          </a:p>
        </p:txBody>
      </p:sp>
      <p:sp>
        <p:nvSpPr>
          <p:cNvPr id="13" name="a0_2_bg"/>
          <p:cNvSpPr/>
          <p:nvPr/>
        </p:nvSpPr>
        <p:spPr>
          <a:xfrm>
            <a:off x="6065444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0_2c"/>
          <p:cNvSpPr/>
          <p:nvPr/>
        </p:nvSpPr>
        <p:spPr>
          <a:xfrm>
            <a:off x="6248324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96" y="1901952"/>
            <a:ext cx="219456" cy="219456"/>
          </a:xfrm>
          <a:prstGeom prst="rect">
            <a:avLst/>
          </a:prstGeom>
        </p:spPr>
      </p:pic>
      <p:sp>
        <p:nvSpPr>
          <p:cNvPr id="16" name="a0_2_h"/>
          <p:cNvSpPr txBox="1"/>
          <p:nvPr/>
        </p:nvSpPr>
        <p:spPr>
          <a:xfrm>
            <a:off x="6248324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Governo e órgãos ambientais</a:t>
            </a:r>
            <a:endParaRPr lang="en-US" sz="1300" dirty="0"/>
          </a:p>
        </p:txBody>
      </p:sp>
      <p:sp>
        <p:nvSpPr>
          <p:cNvPr id="17" name="a0_2_d"/>
          <p:cNvSpPr txBox="1"/>
          <p:nvPr/>
        </p:nvSpPr>
        <p:spPr>
          <a:xfrm>
            <a:off x="6248324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Cumprimento da lei e dados confiáveis.</a:t>
            </a:r>
            <a:endParaRPr lang="en-US" sz="1200" dirty="0"/>
          </a:p>
        </p:txBody>
      </p:sp>
      <p:sp>
        <p:nvSpPr>
          <p:cNvPr id="18" name="a0_3_bg"/>
          <p:cNvSpPr/>
          <p:nvPr/>
        </p:nvSpPr>
        <p:spPr>
          <a:xfrm>
            <a:off x="8016088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0_3c"/>
          <p:cNvSpPr/>
          <p:nvPr/>
        </p:nvSpPr>
        <p:spPr>
          <a:xfrm>
            <a:off x="8198968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840" y="1901952"/>
            <a:ext cx="219456" cy="219456"/>
          </a:xfrm>
          <a:prstGeom prst="rect">
            <a:avLst/>
          </a:prstGeom>
        </p:spPr>
      </p:pic>
      <p:sp>
        <p:nvSpPr>
          <p:cNvPr id="21" name="a0_3_h"/>
          <p:cNvSpPr txBox="1"/>
          <p:nvPr/>
        </p:nvSpPr>
        <p:spPr>
          <a:xfrm>
            <a:off x="8198968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Investidores</a:t>
            </a:r>
            <a:endParaRPr lang="en-US" sz="1300" dirty="0"/>
          </a:p>
        </p:txBody>
      </p:sp>
      <p:sp>
        <p:nvSpPr>
          <p:cNvPr id="22" name="a0_3_d"/>
          <p:cNvSpPr txBox="1"/>
          <p:nvPr/>
        </p:nvSpPr>
        <p:spPr>
          <a:xfrm>
            <a:off x="8198968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Risco sob controle e valor no longo prazo.</a:t>
            </a:r>
            <a:endParaRPr lang="en-US" sz="1200" dirty="0"/>
          </a:p>
        </p:txBody>
      </p:sp>
      <p:sp>
        <p:nvSpPr>
          <p:cNvPr id="23" name="a0_4_bg"/>
          <p:cNvSpPr/>
          <p:nvPr/>
        </p:nvSpPr>
        <p:spPr>
          <a:xfrm>
            <a:off x="9966731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4c"/>
          <p:cNvSpPr/>
          <p:nvPr/>
        </p:nvSpPr>
        <p:spPr>
          <a:xfrm>
            <a:off x="10149611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5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483" y="1901952"/>
            <a:ext cx="219456" cy="219456"/>
          </a:xfrm>
          <a:prstGeom prst="rect">
            <a:avLst/>
          </a:prstGeom>
        </p:spPr>
      </p:pic>
      <p:sp>
        <p:nvSpPr>
          <p:cNvPr id="26" name="a0_4_h"/>
          <p:cNvSpPr txBox="1"/>
          <p:nvPr/>
        </p:nvSpPr>
        <p:spPr>
          <a:xfrm>
            <a:off x="10149611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Consumidores</a:t>
            </a:r>
            <a:endParaRPr lang="en-US" sz="1300" dirty="0"/>
          </a:p>
        </p:txBody>
      </p:sp>
      <p:sp>
        <p:nvSpPr>
          <p:cNvPr id="27" name="a0_4_d"/>
          <p:cNvSpPr txBox="1"/>
          <p:nvPr/>
        </p:nvSpPr>
        <p:spPr>
          <a:xfrm>
            <a:off x="10149611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Serviço essencial, seguro e ético.</a:t>
            </a:r>
            <a:endParaRPr lang="en-US" sz="1200" dirty="0"/>
          </a:p>
        </p:txBody>
      </p:sp>
      <p:sp>
        <p:nvSpPr>
          <p:cNvPr id="28" name="a0_5_bg"/>
          <p:cNvSpPr/>
          <p:nvPr/>
        </p:nvSpPr>
        <p:spPr>
          <a:xfrm>
            <a:off x="4114800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0_5c"/>
          <p:cNvSpPr/>
          <p:nvPr/>
        </p:nvSpPr>
        <p:spPr>
          <a:xfrm>
            <a:off x="4297680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0" name="a0_5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867912"/>
            <a:ext cx="219456" cy="219456"/>
          </a:xfrm>
          <a:prstGeom prst="rect">
            <a:avLst/>
          </a:prstGeom>
        </p:spPr>
      </p:pic>
      <p:sp>
        <p:nvSpPr>
          <p:cNvPr id="31" name="a0_5_h"/>
          <p:cNvSpPr txBox="1"/>
          <p:nvPr/>
        </p:nvSpPr>
        <p:spPr>
          <a:xfrm>
            <a:off x="4297680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Fornecedores</a:t>
            </a:r>
            <a:endParaRPr lang="en-US" sz="1300" dirty="0"/>
          </a:p>
        </p:txBody>
      </p:sp>
      <p:sp>
        <p:nvSpPr>
          <p:cNvPr id="32" name="a0_5_d"/>
          <p:cNvSpPr txBox="1"/>
          <p:nvPr/>
        </p:nvSpPr>
        <p:spPr>
          <a:xfrm>
            <a:off x="4297680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Parcerias sem passivo ambiental.</a:t>
            </a:r>
            <a:endParaRPr lang="en-US" sz="1200" dirty="0"/>
          </a:p>
        </p:txBody>
      </p:sp>
      <p:sp>
        <p:nvSpPr>
          <p:cNvPr id="33" name="a0_6_bg"/>
          <p:cNvSpPr/>
          <p:nvPr/>
        </p:nvSpPr>
        <p:spPr>
          <a:xfrm>
            <a:off x="6065444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a0_6c"/>
          <p:cNvSpPr/>
          <p:nvPr/>
        </p:nvSpPr>
        <p:spPr>
          <a:xfrm>
            <a:off x="6248324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5" name="a0_6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196" y="3867912"/>
            <a:ext cx="219456" cy="219456"/>
          </a:xfrm>
          <a:prstGeom prst="rect">
            <a:avLst/>
          </a:prstGeom>
        </p:spPr>
      </p:pic>
      <p:sp>
        <p:nvSpPr>
          <p:cNvPr id="36" name="a0_6_h"/>
          <p:cNvSpPr txBox="1"/>
          <p:nvPr/>
        </p:nvSpPr>
        <p:spPr>
          <a:xfrm>
            <a:off x="6248324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Imprensa e sociedade</a:t>
            </a:r>
            <a:endParaRPr lang="en-US" sz="1300" dirty="0"/>
          </a:p>
        </p:txBody>
      </p:sp>
      <p:sp>
        <p:nvSpPr>
          <p:cNvPr id="37" name="a0_6_d"/>
          <p:cNvSpPr txBox="1"/>
          <p:nvPr/>
        </p:nvSpPr>
        <p:spPr>
          <a:xfrm>
            <a:off x="6248324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Transparência e prestação de contas.</a:t>
            </a:r>
            <a:endParaRPr lang="en-US" sz="1200" dirty="0"/>
          </a:p>
        </p:txBody>
      </p:sp>
      <p:sp>
        <p:nvSpPr>
          <p:cNvPr id="38" name="a0_7_bg"/>
          <p:cNvSpPr/>
          <p:nvPr/>
        </p:nvSpPr>
        <p:spPr>
          <a:xfrm>
            <a:off x="8016088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a0_7c"/>
          <p:cNvSpPr/>
          <p:nvPr/>
        </p:nvSpPr>
        <p:spPr>
          <a:xfrm>
            <a:off x="8198968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0" name="a0_7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840" y="3867912"/>
            <a:ext cx="219456" cy="219456"/>
          </a:xfrm>
          <a:prstGeom prst="rect">
            <a:avLst/>
          </a:prstGeom>
        </p:spPr>
      </p:pic>
      <p:sp>
        <p:nvSpPr>
          <p:cNvPr id="41" name="a0_7_h"/>
          <p:cNvSpPr txBox="1"/>
          <p:nvPr/>
        </p:nvSpPr>
        <p:spPr>
          <a:xfrm>
            <a:off x="8198968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Justiça e advogados</a:t>
            </a:r>
            <a:endParaRPr lang="en-US" sz="1300" dirty="0"/>
          </a:p>
        </p:txBody>
      </p:sp>
      <p:sp>
        <p:nvSpPr>
          <p:cNvPr id="42" name="a0_7_d"/>
          <p:cNvSpPr txBox="1"/>
          <p:nvPr/>
        </p:nvSpPr>
        <p:spPr>
          <a:xfrm>
            <a:off x="8198968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Responsabilização e indenização justa.</a:t>
            </a:r>
            <a:endParaRPr lang="en-US" sz="1200" dirty="0"/>
          </a:p>
        </p:txBody>
      </p:sp>
      <p:sp>
        <p:nvSpPr>
          <p:cNvPr id="43" name="a0_8_bg"/>
          <p:cNvSpPr/>
          <p:nvPr/>
        </p:nvSpPr>
        <p:spPr>
          <a:xfrm>
            <a:off x="9966731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a0_8_t"/>
          <p:cNvSpPr txBox="1"/>
          <p:nvPr/>
        </p:nvSpPr>
        <p:spPr>
          <a:xfrm>
            <a:off x="10149611" y="3566160"/>
            <a:ext cx="1356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INSIGHT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Stakeholder ignorado encontra outro jeito de ser ouvido. Em Hinkley, foi a Justiça.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PAPEL DA EMPRESA · ANÁLISE ESG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EMPRESA FALHOU NOS TRÊS PILARES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h"/>
          <p:cNvSpPr txBox="1"/>
          <p:nvPr/>
        </p:nvSpPr>
        <p:spPr>
          <a:xfrm>
            <a:off x="822960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E  </a:t>
            </a:r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AMBIENTAL</a:t>
            </a:r>
            <a:endParaRPr lang="en-US" sz="4400" dirty="0"/>
          </a:p>
        </p:txBody>
      </p:sp>
      <p:sp>
        <p:nvSpPr>
          <p:cNvPr id="6" name="a0_0_b"/>
          <p:cNvSpPr txBox="1"/>
          <p:nvPr/>
        </p:nvSpPr>
        <p:spPr>
          <a:xfrm>
            <a:off x="822960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Descarte de substância tóxica sem controle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Nenhum monitoramento sério da água da cidade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Anos de demora para conter a contaminação</a:t>
            </a:r>
            <a:endParaRPr lang="en-US" sz="1500" dirty="0"/>
          </a:p>
        </p:txBody>
      </p:sp>
      <p:sp>
        <p:nvSpPr>
          <p:cNvPr id="7" name="a0_1_bg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0_1_h"/>
          <p:cNvSpPr txBox="1"/>
          <p:nvPr/>
        </p:nvSpPr>
        <p:spPr>
          <a:xfrm>
            <a:off x="4612538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S  </a:t>
            </a:r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SOCIAL</a:t>
            </a:r>
            <a:endParaRPr lang="en-US" sz="4400" dirty="0"/>
          </a:p>
        </p:txBody>
      </p:sp>
      <p:sp>
        <p:nvSpPr>
          <p:cNvPr id="9" name="a0_1_b"/>
          <p:cNvSpPr txBox="1"/>
          <p:nvPr/>
        </p:nvSpPr>
        <p:spPr>
          <a:xfrm>
            <a:off x="4612538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Saúde da comunidade exposta ao risco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Informação negada a quem era afetado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Compra de casas para encerrar o assunto, sem reparar o dano</a:t>
            </a:r>
            <a:endParaRPr lang="en-US" sz="1500" dirty="0"/>
          </a:p>
        </p:txBody>
      </p:sp>
      <p:sp>
        <p:nvSpPr>
          <p:cNvPr id="10" name="a0_2_bg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2_h"/>
          <p:cNvSpPr txBox="1"/>
          <p:nvPr/>
        </p:nvSpPr>
        <p:spPr>
          <a:xfrm>
            <a:off x="8402117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G  </a:t>
            </a:r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GOVERNANÇA</a:t>
            </a:r>
            <a:endParaRPr lang="en-US" sz="4400" dirty="0"/>
          </a:p>
        </p:txBody>
      </p:sp>
      <p:sp>
        <p:nvSpPr>
          <p:cNvPr id="12" name="a0_2_b"/>
          <p:cNvSpPr txBox="1"/>
          <p:nvPr/>
        </p:nvSpPr>
        <p:spPr>
          <a:xfrm>
            <a:off x="8402117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Documentos internos mostram que a direção sabia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Falta de transparência com os órgãos públicos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Nenhum controle interno freou a decisão</a:t>
            </a:r>
            <a:endParaRPr lang="en-US" sz="1500" dirty="0"/>
          </a:p>
        </p:txBody>
      </p:sp>
      <p:sp>
        <p:nvSpPr>
          <p:cNvPr id="13" name="a1_0_in_bg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1_0_in_icc"/>
          <p:cNvSpPr/>
          <p:nvPr/>
        </p:nvSpPr>
        <p:spPr>
          <a:xfrm>
            <a:off x="731520" y="55092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1_0_in_ic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628132"/>
            <a:ext cx="219456" cy="219456"/>
          </a:xfrm>
          <a:prstGeom prst="rect">
            <a:avLst/>
          </a:prstGeom>
        </p:spPr>
      </p:pic>
      <p:sp>
        <p:nvSpPr>
          <p:cNvPr id="16" name="a1_0_in_t"/>
          <p:cNvSpPr txBox="1"/>
          <p:nvPr/>
        </p:nvSpPr>
        <p:spPr>
          <a:xfrm>
            <a:off x="1325880" y="53492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falha de Governança causou as falhas Ambiental e Social: sem controle interno, esconder virou estratégia.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PAPEL DA EMPRESA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RESPONSABILIDADE DA ORGANIZAÇÃO?</a:t>
            </a:r>
            <a:endParaRPr lang="en-US" sz="2800" dirty="0"/>
          </a:p>
        </p:txBody>
      </p:sp>
      <p:sp>
        <p:nvSpPr>
          <p:cNvPr id="4" name="a0_0_q"/>
          <p:cNvSpPr txBox="1"/>
          <p:nvPr/>
        </p:nvSpPr>
        <p:spPr>
          <a:xfrm>
            <a:off x="54864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“Responder pelo dano que causou, mesmo sem intenção, e agir antes de ser obrigada.”</a:t>
            </a:r>
            <a:endParaRPr lang="en-US" sz="2400" dirty="0"/>
          </a:p>
        </p:txBody>
      </p:sp>
      <p:sp>
        <p:nvSpPr>
          <p:cNvPr id="5" name="a0_1_bg"/>
          <p:cNvSpPr/>
          <p:nvPr/>
        </p:nvSpPr>
        <p:spPr>
          <a:xfrm>
            <a:off x="548640" y="3611880"/>
            <a:ext cx="484632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0_1c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0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3983126"/>
            <a:ext cx="263347" cy="263347"/>
          </a:xfrm>
          <a:prstGeom prst="rect">
            <a:avLst/>
          </a:prstGeom>
        </p:spPr>
      </p:pic>
      <p:sp>
        <p:nvSpPr>
          <p:cNvPr id="8" name="a0_1_h"/>
          <p:cNvSpPr txBox="1"/>
          <p:nvPr/>
        </p:nvSpPr>
        <p:spPr>
          <a:xfrm>
            <a:off x="15544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 NO BRASIL?</a:t>
            </a:r>
            <a:endParaRPr lang="en-US" sz="1400" dirty="0"/>
          </a:p>
        </p:txBody>
      </p:sp>
      <p:sp>
        <p:nvSpPr>
          <p:cNvPr id="9" name="a0_1_b"/>
          <p:cNvSpPr txBox="1"/>
          <p:nvPr/>
        </p:nvSpPr>
        <p:spPr>
          <a:xfrm>
            <a:off x="822960" y="452628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Responsabilidade ambiental objetiva: a empresa responde independentemente de culpa (Lei 6.938/81)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Lei de Crimes Ambientais (Lei 9.605/98)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Dever de avisar consumidores e autoridades sobre riscos (CDC, art. 10)</a:t>
            </a:r>
            <a:endParaRPr lang="en-US" sz="1300" dirty="0"/>
          </a:p>
        </p:txBody>
      </p:sp>
      <p:sp>
        <p:nvSpPr>
          <p:cNvPr id="10" name="a0_2_bg"/>
          <p:cNvSpPr/>
          <p:nvPr/>
        </p:nvSpPr>
        <p:spPr>
          <a:xfrm>
            <a:off x="5852160" y="1645920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2c"/>
          <p:cNvSpPr/>
          <p:nvPr/>
        </p:nvSpPr>
        <p:spPr>
          <a:xfrm>
            <a:off x="6080760" y="1828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a0_2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94" y="1983334"/>
            <a:ext cx="285293" cy="285293"/>
          </a:xfrm>
          <a:prstGeom prst="rect">
            <a:avLst/>
          </a:prstGeom>
        </p:spPr>
      </p:pic>
      <p:sp>
        <p:nvSpPr>
          <p:cNvPr id="13" name="a0_2_t"/>
          <p:cNvSpPr txBox="1"/>
          <p:nvPr/>
        </p:nvSpPr>
        <p:spPr>
          <a:xfrm>
            <a:off x="6903720" y="1645920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 INFORMAR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Comunicar riscos à comunidade e às autoridades assim que souber.</a:t>
            </a:r>
            <a:endParaRPr lang="en-US" sz="1400" dirty="0"/>
          </a:p>
        </p:txBody>
      </p:sp>
      <p:sp>
        <p:nvSpPr>
          <p:cNvPr id="14" name="a0_3_bg"/>
          <p:cNvSpPr/>
          <p:nvPr/>
        </p:nvSpPr>
        <p:spPr>
          <a:xfrm>
            <a:off x="5852160" y="2761488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3c"/>
          <p:cNvSpPr/>
          <p:nvPr/>
        </p:nvSpPr>
        <p:spPr>
          <a:xfrm>
            <a:off x="6080760" y="2944368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3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94" y="3098902"/>
            <a:ext cx="285293" cy="285293"/>
          </a:xfrm>
          <a:prstGeom prst="rect">
            <a:avLst/>
          </a:prstGeom>
        </p:spPr>
      </p:pic>
      <p:sp>
        <p:nvSpPr>
          <p:cNvPr id="17" name="a0_3_t"/>
          <p:cNvSpPr txBox="1"/>
          <p:nvPr/>
        </p:nvSpPr>
        <p:spPr>
          <a:xfrm>
            <a:off x="6903720" y="2761488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 REPARAR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Custear saúde, recuperação ambiental e perdas das famílias.</a:t>
            </a:r>
            <a:endParaRPr lang="en-US" sz="1400" dirty="0"/>
          </a:p>
        </p:txBody>
      </p:sp>
      <p:sp>
        <p:nvSpPr>
          <p:cNvPr id="18" name="a0_4_bg"/>
          <p:cNvSpPr/>
          <p:nvPr/>
        </p:nvSpPr>
        <p:spPr>
          <a:xfrm>
            <a:off x="5852160" y="3877056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0_4c"/>
          <p:cNvSpPr/>
          <p:nvPr/>
        </p:nvSpPr>
        <p:spPr>
          <a:xfrm>
            <a:off x="6080760" y="4059936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a0_4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294" y="4214470"/>
            <a:ext cx="285293" cy="285293"/>
          </a:xfrm>
          <a:prstGeom prst="rect">
            <a:avLst/>
          </a:prstGeom>
        </p:spPr>
      </p:pic>
      <p:sp>
        <p:nvSpPr>
          <p:cNvPr id="21" name="a0_4_t"/>
          <p:cNvSpPr txBox="1"/>
          <p:nvPr/>
        </p:nvSpPr>
        <p:spPr>
          <a:xfrm>
            <a:off x="6903720" y="3877056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 PREVENIR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Eliminar a causa e monitorar para que o problema não se repita.</a:t>
            </a:r>
            <a:endParaRPr lang="en-US" sz="1400" dirty="0"/>
          </a:p>
        </p:txBody>
      </p:sp>
      <p:sp>
        <p:nvSpPr>
          <p:cNvPr id="22" name="a0_5_bg"/>
          <p:cNvSpPr/>
          <p:nvPr/>
        </p:nvSpPr>
        <p:spPr>
          <a:xfrm>
            <a:off x="5852160" y="4992624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0_5c"/>
          <p:cNvSpPr/>
          <p:nvPr/>
        </p:nvSpPr>
        <p:spPr>
          <a:xfrm>
            <a:off x="6080760" y="5175504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a0_5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294" y="5330038"/>
            <a:ext cx="285293" cy="285293"/>
          </a:xfrm>
          <a:prstGeom prst="rect">
            <a:avLst/>
          </a:prstGeom>
        </p:spPr>
      </p:pic>
      <p:sp>
        <p:nvSpPr>
          <p:cNvPr id="25" name="a0_5_t"/>
          <p:cNvSpPr txBox="1"/>
          <p:nvPr/>
        </p:nvSpPr>
        <p:spPr>
          <a:xfrm>
            <a:off x="6903720" y="4992624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 PRESTAR CONTAS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Publicar resultados de forma aberta e verificável.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PAPEL DA EMPRESA · DINÂMICA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VOCÊS FAZEM?</a:t>
            </a:r>
            <a:endParaRPr lang="en-US" sz="2800" dirty="0"/>
          </a:p>
        </p:txBody>
      </p:sp>
      <p:sp>
        <p:nvSpPr>
          <p:cNvPr id="4" name="a0_9_timerc"/>
          <p:cNvSpPr/>
          <p:nvPr/>
        </p:nvSpPr>
        <p:spPr>
          <a:xfrm>
            <a:off x="10454335" y="41148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0_9_timer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402" y="720547"/>
            <a:ext cx="570586" cy="570586"/>
          </a:xfrm>
          <a:prstGeom prst="rect">
            <a:avLst/>
          </a:prstGeom>
        </p:spPr>
      </p:pic>
      <p:sp>
        <p:nvSpPr>
          <p:cNvPr id="6" name="a0_0_sc"/>
          <p:cNvSpPr txBox="1"/>
          <p:nvPr/>
        </p:nvSpPr>
        <p:spPr>
          <a:xfrm>
            <a:off x="548640" y="1600200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laboratório confirma cromo hexavalente nos poços da cidade. A imprensa ainda não sabe. Vocês têm 30 segundos para decidir.</a:t>
            </a:r>
            <a:endParaRPr lang="en-US" sz="1800" dirty="0"/>
          </a:p>
        </p:txBody>
      </p:sp>
      <p:sp>
        <p:nvSpPr>
          <p:cNvPr id="7" name="a1_0_bg"/>
          <p:cNvSpPr/>
          <p:nvPr/>
        </p:nvSpPr>
        <p:spPr>
          <a:xfrm>
            <a:off x="548640" y="26974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1_0_l"/>
          <p:cNvSpPr txBox="1"/>
          <p:nvPr/>
        </p:nvSpPr>
        <p:spPr>
          <a:xfrm>
            <a:off x="82296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A</a:t>
            </a:r>
            <a:endParaRPr lang="en-US" sz="5400" dirty="0"/>
          </a:p>
        </p:txBody>
      </p:sp>
      <p:sp>
        <p:nvSpPr>
          <p:cNvPr id="9" name="a1_0_t"/>
          <p:cNvSpPr txBox="1"/>
          <p:nvPr/>
        </p:nvSpPr>
        <p:spPr>
          <a:xfrm>
            <a:off x="822960" y="3794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Manter sigilo, negociar acordos individuais e comprar as casas mais afetadas.</a:t>
            </a:r>
            <a:endParaRPr lang="en-US" sz="1600" dirty="0"/>
          </a:p>
        </p:txBody>
      </p:sp>
      <p:sp>
        <p:nvSpPr>
          <p:cNvPr id="10" name="a2_0_bg"/>
          <p:cNvSpPr/>
          <p:nvPr/>
        </p:nvSpPr>
        <p:spPr>
          <a:xfrm>
            <a:off x="4338218" y="26974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2_0_l"/>
          <p:cNvSpPr txBox="1"/>
          <p:nvPr/>
        </p:nvSpPr>
        <p:spPr>
          <a:xfrm>
            <a:off x="4612538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B</a:t>
            </a:r>
            <a:endParaRPr lang="en-US" sz="5400" dirty="0"/>
          </a:p>
        </p:txBody>
      </p:sp>
      <p:sp>
        <p:nvSpPr>
          <p:cNvPr id="12" name="a2_0_t"/>
          <p:cNvSpPr txBox="1"/>
          <p:nvPr/>
        </p:nvSpPr>
        <p:spPr>
          <a:xfrm>
            <a:off x="4612538" y="3794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Cumprir só o mínimo legal: avisar o órgão ambiental e esperar a cobrança.</a:t>
            </a:r>
            <a:endParaRPr lang="en-US" sz="1600" dirty="0"/>
          </a:p>
        </p:txBody>
      </p:sp>
      <p:sp>
        <p:nvSpPr>
          <p:cNvPr id="13" name="a3_0_bg"/>
          <p:cNvSpPr/>
          <p:nvPr/>
        </p:nvSpPr>
        <p:spPr>
          <a:xfrm>
            <a:off x="8127797" y="26974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0_l"/>
          <p:cNvSpPr txBox="1"/>
          <p:nvPr/>
        </p:nvSpPr>
        <p:spPr>
          <a:xfrm>
            <a:off x="8402117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C</a:t>
            </a:r>
            <a:endParaRPr lang="en-US" sz="5400" dirty="0"/>
          </a:p>
        </p:txBody>
      </p:sp>
      <p:sp>
        <p:nvSpPr>
          <p:cNvPr id="15" name="a3_0_t"/>
          <p:cNvSpPr txBox="1"/>
          <p:nvPr/>
        </p:nvSpPr>
        <p:spPr>
          <a:xfrm>
            <a:off x="8402117" y="3794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Parar a fonte, avisar a comunidade, oferecer água e exames e assumir a reparação.</a:t>
            </a:r>
            <a:endParaRPr lang="en-US" sz="1600" dirty="0"/>
          </a:p>
        </p:txBody>
      </p:sp>
      <p:sp>
        <p:nvSpPr>
          <p:cNvPr id="16" name="a4_0_bg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4_1_t"/>
          <p:cNvSpPr txBox="1"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LEVANTEM A MÃO: A, B OU C?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QUE ACONTECEU DE VERDADE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REAL ESCOLHEU ESCONDER E PAGOU CARO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5090008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07108"/>
            <a:ext cx="329184" cy="329184"/>
          </a:xfrm>
          <a:prstGeom prst="rect">
            <a:avLst/>
          </a:prstGeom>
        </p:spPr>
      </p:pic>
      <p:sp>
        <p:nvSpPr>
          <p:cNvPr id="7" name="a0_0_tag"/>
          <p:cNvSpPr/>
          <p:nvPr/>
        </p:nvSpPr>
        <p:spPr>
          <a:xfrm>
            <a:off x="1691640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0_0_tagt"/>
          <p:cNvSpPr txBox="1"/>
          <p:nvPr/>
        </p:nvSpPr>
        <p:spPr>
          <a:xfrm>
            <a:off x="16916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CUSTO MAIOR</a:t>
            </a:r>
            <a:endParaRPr lang="en-US" sz="1000" dirty="0"/>
          </a:p>
        </p:txBody>
      </p:sp>
      <p:sp>
        <p:nvSpPr>
          <p:cNvPr id="9" name="a0_0_h"/>
          <p:cNvSpPr txBox="1"/>
          <p:nvPr/>
        </p:nvSpPr>
        <p:spPr>
          <a:xfrm>
            <a:off x="1691640" y="2176272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ESCONDER · OPÇÃO A</a:t>
            </a:r>
            <a:endParaRPr lang="en-US" sz="1800" dirty="0"/>
          </a:p>
        </p:txBody>
      </p:sp>
      <p:sp>
        <p:nvSpPr>
          <p:cNvPr id="10" name="a0_0_b"/>
          <p:cNvSpPr txBox="1"/>
          <p:nvPr/>
        </p:nvSpPr>
        <p:spPr>
          <a:xfrm>
            <a:off x="868680" y="2834640"/>
            <a:ext cx="45413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 dano cresceu por décadas e atingiu mais famílias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Acordo de US$ 333 milhões em 1996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Novos processos ligados ao cromo em outras unidades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marca virou símbolo de contaminação no cinema</a:t>
            </a:r>
            <a:endParaRPr lang="en-US" sz="1700" dirty="0"/>
          </a:p>
        </p:txBody>
      </p:sp>
      <p:sp>
        <p:nvSpPr>
          <p:cNvPr id="11" name="a0_2_bg"/>
          <p:cNvSpPr/>
          <p:nvPr/>
        </p:nvSpPr>
        <p:spPr>
          <a:xfrm>
            <a:off x="6553048" y="1600200"/>
            <a:ext cx="5090008" cy="374904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0_2c"/>
          <p:cNvSpPr/>
          <p:nvPr/>
        </p:nvSpPr>
        <p:spPr>
          <a:xfrm>
            <a:off x="6827368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0_2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676" y="2007108"/>
            <a:ext cx="329184" cy="329184"/>
          </a:xfrm>
          <a:prstGeom prst="rect">
            <a:avLst/>
          </a:prstGeom>
        </p:spPr>
      </p:pic>
      <p:sp>
        <p:nvSpPr>
          <p:cNvPr id="14" name="a0_2_tag"/>
          <p:cNvSpPr/>
          <p:nvPr/>
        </p:nvSpPr>
        <p:spPr>
          <a:xfrm>
            <a:off x="7696048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a0_2_tagt"/>
          <p:cNvSpPr txBox="1"/>
          <p:nvPr/>
        </p:nvSpPr>
        <p:spPr>
          <a:xfrm>
            <a:off x="7696048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CUSTO MENOR</a:t>
            </a:r>
            <a:endParaRPr lang="en-US" sz="1000" dirty="0"/>
          </a:p>
        </p:txBody>
      </p:sp>
      <p:sp>
        <p:nvSpPr>
          <p:cNvPr id="16" name="a0_2_h"/>
          <p:cNvSpPr txBox="1"/>
          <p:nvPr/>
        </p:nvSpPr>
        <p:spPr>
          <a:xfrm>
            <a:off x="7696048" y="2176272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ENFRENTAR · OPÇÃO C</a:t>
            </a:r>
            <a:endParaRPr lang="en-US" sz="1800" dirty="0"/>
          </a:p>
        </p:txBody>
      </p:sp>
      <p:sp>
        <p:nvSpPr>
          <p:cNvPr id="17" name="a0_2_b"/>
          <p:cNvSpPr txBox="1"/>
          <p:nvPr/>
        </p:nvSpPr>
        <p:spPr>
          <a:xfrm>
            <a:off x="6873088" y="2834640"/>
            <a:ext cx="45413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Contenção rápida limita o tamanho do dano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Reparação planejada, não imposta pela Justiça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Comunidade e governo como parceiros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Reputação de empresa que resolve problemas</a:t>
            </a:r>
            <a:endParaRPr lang="en-US" sz="1700" dirty="0"/>
          </a:p>
        </p:txBody>
      </p:sp>
      <p:sp>
        <p:nvSpPr>
          <p:cNvPr id="18" name="a0_1_vs"/>
          <p:cNvSpPr/>
          <p:nvPr/>
        </p:nvSpPr>
        <p:spPr>
          <a:xfrm>
            <a:off x="5730088" y="310896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9" name="a0_1_vst"/>
          <p:cNvSpPr txBox="1"/>
          <p:nvPr/>
        </p:nvSpPr>
        <p:spPr>
          <a:xfrm>
            <a:off x="5730088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VS</a:t>
            </a:r>
            <a:endParaRPr lang="en-US" sz="1600" dirty="0"/>
          </a:p>
        </p:txBody>
      </p:sp>
      <p:sp>
        <p:nvSpPr>
          <p:cNvPr id="20" name="a1_0_in_bg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1_0_in_icc"/>
          <p:cNvSpPr/>
          <p:nvPr/>
        </p:nvSpPr>
        <p:spPr>
          <a:xfrm>
            <a:off x="731520" y="56464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1_0_in_ic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765292"/>
            <a:ext cx="219456" cy="219456"/>
          </a:xfrm>
          <a:prstGeom prst="rect">
            <a:avLst/>
          </a:prstGeom>
        </p:spPr>
      </p:pic>
      <p:sp>
        <p:nvSpPr>
          <p:cNvPr id="23" name="a1_0_in_t"/>
          <p:cNvSpPr txBox="1"/>
          <p:nvPr/>
        </p:nvSpPr>
        <p:spPr>
          <a:xfrm>
            <a:off x="1325880" y="55321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Esconder parece mais barato no curto prazo. No longo prazo, é sempre a opção mais cara.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PREÇO DO SILÊNCIO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CUSTOU ESCOLHER A OPÇÃO A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v"/>
          <p:cNvSpPr txBox="1"/>
          <p:nvPr/>
        </p:nvSpPr>
        <p:spPr>
          <a:xfrm>
            <a:off x="822960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US$ 333 mi</a:t>
            </a:r>
            <a:endParaRPr lang="en-US" sz="4800" dirty="0"/>
          </a:p>
        </p:txBody>
      </p:sp>
      <p:sp>
        <p:nvSpPr>
          <p:cNvPr id="6" name="a0_0_d"/>
          <p:cNvSpPr txBox="1"/>
          <p:nvPr/>
        </p:nvSpPr>
        <p:spPr>
          <a:xfrm>
            <a:off x="822960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acordo de 1996 com os moradores de Hinkley</a:t>
            </a:r>
            <a:endParaRPr lang="en-US" sz="1500" dirty="0"/>
          </a:p>
        </p:txBody>
      </p:sp>
      <p:sp>
        <p:nvSpPr>
          <p:cNvPr id="7" name="a0_0_op"/>
          <p:cNvSpPr txBox="1"/>
          <p:nvPr/>
        </p:nvSpPr>
        <p:spPr>
          <a:xfrm>
            <a:off x="4063898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</a:t>
            </a:r>
            <a:endParaRPr lang="en-US" sz="2800" dirty="0"/>
          </a:p>
        </p:txBody>
      </p:sp>
      <p:sp>
        <p:nvSpPr>
          <p:cNvPr id="8" name="a0_1_bg"/>
          <p:cNvSpPr/>
          <p:nvPr/>
        </p:nvSpPr>
        <p:spPr>
          <a:xfrm>
            <a:off x="4338218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_v"/>
          <p:cNvSpPr txBox="1"/>
          <p:nvPr/>
        </p:nvSpPr>
        <p:spPr>
          <a:xfrm>
            <a:off x="4612538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US$ 295 mi</a:t>
            </a:r>
            <a:endParaRPr lang="en-US" sz="4800" dirty="0"/>
          </a:p>
        </p:txBody>
      </p:sp>
      <p:sp>
        <p:nvSpPr>
          <p:cNvPr id="10" name="a0_1_d"/>
          <p:cNvSpPr txBox="1"/>
          <p:nvPr/>
        </p:nvSpPr>
        <p:spPr>
          <a:xfrm>
            <a:off x="4612538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novo acordo em 2006, em casos de outras unidades</a:t>
            </a:r>
            <a:endParaRPr lang="en-US" sz="1500" dirty="0"/>
          </a:p>
        </p:txBody>
      </p:sp>
      <p:sp>
        <p:nvSpPr>
          <p:cNvPr id="11" name="a0_1_op"/>
          <p:cNvSpPr txBox="1"/>
          <p:nvPr/>
        </p:nvSpPr>
        <p:spPr>
          <a:xfrm>
            <a:off x="7853477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=</a:t>
            </a:r>
            <a:endParaRPr lang="en-US" sz="2800" dirty="0"/>
          </a:p>
        </p:txBody>
      </p:sp>
      <p:sp>
        <p:nvSpPr>
          <p:cNvPr id="12" name="a0_2_bg"/>
          <p:cNvSpPr/>
          <p:nvPr/>
        </p:nvSpPr>
        <p:spPr>
          <a:xfrm>
            <a:off x="8127797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2_v"/>
          <p:cNvSpPr txBox="1"/>
          <p:nvPr/>
        </p:nvSpPr>
        <p:spPr>
          <a:xfrm>
            <a:off x="8402117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US$ 628 mi</a:t>
            </a:r>
            <a:endParaRPr lang="en-US" sz="4800" dirty="0"/>
          </a:p>
        </p:txBody>
      </p:sp>
      <p:sp>
        <p:nvSpPr>
          <p:cNvPr id="14" name="a0_2_d"/>
          <p:cNvSpPr txBox="1"/>
          <p:nvPr/>
        </p:nvSpPr>
        <p:spPr>
          <a:xfrm>
            <a:off x="8402117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só em acordos judiciais, sem contar limpeza, defesa e marca</a:t>
            </a:r>
            <a:endParaRPr lang="en-US" sz="1500" dirty="0"/>
          </a:p>
        </p:txBody>
      </p:sp>
      <p:sp>
        <p:nvSpPr>
          <p:cNvPr id="15" name="a1_0_h"/>
          <p:cNvSpPr txBox="1"/>
          <p:nvPr/>
        </p:nvSpPr>
        <p:spPr>
          <a:xfrm>
            <a:off x="548640" y="4343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 OS CUSTOS QUE NÃO CABEM NUM ACORDO</a:t>
            </a:r>
            <a:endParaRPr lang="en-US" sz="1200" dirty="0"/>
          </a:p>
        </p:txBody>
      </p:sp>
      <p:sp>
        <p:nvSpPr>
          <p:cNvPr id="16" name="a1_1c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1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5036515"/>
            <a:ext cx="351130" cy="351130"/>
          </a:xfrm>
          <a:prstGeom prst="rect">
            <a:avLst/>
          </a:prstGeom>
        </p:spPr>
      </p:pic>
      <p:sp>
        <p:nvSpPr>
          <p:cNvPr id="18" name="a1_1_t"/>
          <p:cNvSpPr txBox="1"/>
          <p:nvPr/>
        </p:nvSpPr>
        <p:spPr>
          <a:xfrm>
            <a:off x="1463040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Décadas de remediação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 lençol freático, ainda em andamento</a:t>
            </a:r>
            <a:endParaRPr lang="en-US" sz="1600" dirty="0"/>
          </a:p>
        </p:txBody>
      </p:sp>
      <p:sp>
        <p:nvSpPr>
          <p:cNvPr id="19" name="a1_2c"/>
          <p:cNvSpPr/>
          <p:nvPr/>
        </p:nvSpPr>
        <p:spPr>
          <a:xfrm>
            <a:off x="4338218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1_2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14" y="5036515"/>
            <a:ext cx="351130" cy="351130"/>
          </a:xfrm>
          <a:prstGeom prst="rect">
            <a:avLst/>
          </a:prstGeom>
        </p:spPr>
      </p:pic>
      <p:sp>
        <p:nvSpPr>
          <p:cNvPr id="21" name="a1_2_t"/>
          <p:cNvSpPr txBox="1"/>
          <p:nvPr/>
        </p:nvSpPr>
        <p:spPr>
          <a:xfrm>
            <a:off x="5252618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cidade esvaziada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 casas compradas e demolidas</a:t>
            </a:r>
            <a:endParaRPr lang="en-US" sz="1600" dirty="0"/>
          </a:p>
        </p:txBody>
      </p:sp>
      <p:sp>
        <p:nvSpPr>
          <p:cNvPr id="22" name="a1_3c"/>
          <p:cNvSpPr/>
          <p:nvPr/>
        </p:nvSpPr>
        <p:spPr>
          <a:xfrm>
            <a:off x="8127797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a1_3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992" y="5036515"/>
            <a:ext cx="351130" cy="351130"/>
          </a:xfrm>
          <a:prstGeom prst="rect">
            <a:avLst/>
          </a:prstGeom>
        </p:spPr>
      </p:pic>
      <p:sp>
        <p:nvSpPr>
          <p:cNvPr id="24" name="a1_3_t"/>
          <p:cNvSpPr txBox="1"/>
          <p:nvPr/>
        </p:nvSpPr>
        <p:spPr>
          <a:xfrm>
            <a:off x="9042197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marca no cinema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como vilã de um filme premiado no Oscar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ISSO TAMBÉM ACONTECE AQUI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BRASILEIROS REPETEM O MESMO PADRÃO</a:t>
            </a:r>
            <a:endParaRPr lang="en-US" sz="2800" dirty="0"/>
          </a:p>
        </p:txBody>
      </p:sp>
      <p:pic>
        <p:nvPicPr>
          <p:cNvPr id="4" name="a0_0_img_wipe" descr="Ilustração de vale atingido por lama de rejeitos de mineraçã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63040"/>
            <a:ext cx="12191695" cy="1417320"/>
          </a:xfrm>
          <a:prstGeom prst="rect">
            <a:avLst/>
          </a:prstGeom>
        </p:spPr>
      </p:pic>
      <p:sp>
        <p:nvSpPr>
          <p:cNvPr id="5" name="a0_1_bg"/>
          <p:cNvSpPr/>
          <p:nvPr/>
        </p:nvSpPr>
        <p:spPr>
          <a:xfrm>
            <a:off x="548640" y="3108960"/>
            <a:ext cx="351525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0_1_k"/>
          <p:cNvSpPr txBox="1"/>
          <p:nvPr/>
        </p:nvSpPr>
        <p:spPr>
          <a:xfrm>
            <a:off x="777240" y="321868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MARIANA (MG) · 2015</a:t>
            </a:r>
            <a:endParaRPr lang="en-US" sz="1100" dirty="0"/>
          </a:p>
        </p:txBody>
      </p:sp>
      <p:sp>
        <p:nvSpPr>
          <p:cNvPr id="7" name="a0_1_v"/>
          <p:cNvSpPr txBox="1"/>
          <p:nvPr/>
        </p:nvSpPr>
        <p:spPr>
          <a:xfrm>
            <a:off x="777240" y="349300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19 mortes</a:t>
            </a:r>
            <a:endParaRPr lang="en-US" sz="3000" dirty="0"/>
          </a:p>
        </p:txBody>
      </p:sp>
      <p:sp>
        <p:nvSpPr>
          <p:cNvPr id="8" name="a0_1_d"/>
          <p:cNvSpPr txBox="1"/>
          <p:nvPr/>
        </p:nvSpPr>
        <p:spPr>
          <a:xfrm>
            <a:off x="777240" y="4069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Rompimento da barragem de Fundão (Samarco, de Vale e BHP). A lama percorreu o Rio Doce até o mar.</a:t>
            </a:r>
            <a:endParaRPr lang="en-US" sz="1200" dirty="0"/>
          </a:p>
        </p:txBody>
      </p:sp>
      <p:sp>
        <p:nvSpPr>
          <p:cNvPr id="9" name="a0_1_a"/>
          <p:cNvSpPr txBox="1"/>
          <p:nvPr/>
        </p:nvSpPr>
        <p:spPr>
          <a:xfrm>
            <a:off x="777240" y="5029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Acordo de reparação: R$ 170 bi (2024)</a:t>
            </a:r>
            <a:endParaRPr lang="en-US" sz="1200" dirty="0"/>
          </a:p>
        </p:txBody>
      </p:sp>
      <p:sp>
        <p:nvSpPr>
          <p:cNvPr id="10" name="a0_2_bg"/>
          <p:cNvSpPr/>
          <p:nvPr/>
        </p:nvSpPr>
        <p:spPr>
          <a:xfrm>
            <a:off x="4338218" y="3108960"/>
            <a:ext cx="351525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2_k"/>
          <p:cNvSpPr txBox="1"/>
          <p:nvPr/>
        </p:nvSpPr>
        <p:spPr>
          <a:xfrm>
            <a:off x="4566818" y="321868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BRUMADINHO (MG) · 2019</a:t>
            </a:r>
            <a:endParaRPr lang="en-US" sz="1100" dirty="0"/>
          </a:p>
        </p:txBody>
      </p:sp>
      <p:sp>
        <p:nvSpPr>
          <p:cNvPr id="12" name="a0_2_v"/>
          <p:cNvSpPr txBox="1"/>
          <p:nvPr/>
        </p:nvSpPr>
        <p:spPr>
          <a:xfrm>
            <a:off x="4566818" y="349300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270 mortes</a:t>
            </a:r>
            <a:endParaRPr lang="en-US" sz="3000" dirty="0"/>
          </a:p>
        </p:txBody>
      </p:sp>
      <p:sp>
        <p:nvSpPr>
          <p:cNvPr id="13" name="a0_2_d"/>
          <p:cNvSpPr txBox="1"/>
          <p:nvPr/>
        </p:nvSpPr>
        <p:spPr>
          <a:xfrm>
            <a:off x="4566818" y="4069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Rompimento da barragem da Vale em Córrego do Feijão, o maior acidente de trabalho do país.</a:t>
            </a:r>
            <a:endParaRPr lang="en-US" sz="1200" dirty="0"/>
          </a:p>
        </p:txBody>
      </p:sp>
      <p:sp>
        <p:nvSpPr>
          <p:cNvPr id="14" name="a0_2_a"/>
          <p:cNvSpPr txBox="1"/>
          <p:nvPr/>
        </p:nvSpPr>
        <p:spPr>
          <a:xfrm>
            <a:off x="4566818" y="5029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Acordo com MG: R$ 37,7 bi (2021)</a:t>
            </a:r>
            <a:endParaRPr lang="en-US" sz="1200" dirty="0"/>
          </a:p>
        </p:txBody>
      </p:sp>
      <p:sp>
        <p:nvSpPr>
          <p:cNvPr id="15" name="a0_3_bg"/>
          <p:cNvSpPr/>
          <p:nvPr/>
        </p:nvSpPr>
        <p:spPr>
          <a:xfrm>
            <a:off x="8127797" y="3108960"/>
            <a:ext cx="351525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0_3_k"/>
          <p:cNvSpPr txBox="1"/>
          <p:nvPr/>
        </p:nvSpPr>
        <p:spPr>
          <a:xfrm>
            <a:off x="8356397" y="321868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MACEIÓ (AL) · DESDE 2018</a:t>
            </a:r>
            <a:endParaRPr lang="en-US" sz="1100" dirty="0"/>
          </a:p>
        </p:txBody>
      </p:sp>
      <p:sp>
        <p:nvSpPr>
          <p:cNvPr id="17" name="a0_3_v"/>
          <p:cNvSpPr txBox="1"/>
          <p:nvPr/>
        </p:nvSpPr>
        <p:spPr>
          <a:xfrm>
            <a:off x="8356397" y="349300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≈ 60 mil</a:t>
            </a:r>
            <a:endParaRPr lang="en-US" sz="3000" dirty="0"/>
          </a:p>
        </p:txBody>
      </p:sp>
      <p:sp>
        <p:nvSpPr>
          <p:cNvPr id="18" name="a0_3_d"/>
          <p:cNvSpPr txBox="1"/>
          <p:nvPr/>
        </p:nvSpPr>
        <p:spPr>
          <a:xfrm>
            <a:off x="8356397" y="4069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moradores deixaram suas casas após o afundamento do solo causado pela mineração de sal-gema da Braskem.</a:t>
            </a:r>
            <a:endParaRPr lang="en-US" sz="1200" dirty="0"/>
          </a:p>
        </p:txBody>
      </p:sp>
      <p:sp>
        <p:nvSpPr>
          <p:cNvPr id="19" name="a0_3_a"/>
          <p:cNvSpPr txBox="1"/>
          <p:nvPr/>
        </p:nvSpPr>
        <p:spPr>
          <a:xfrm>
            <a:off x="8356397" y="5029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Acordo com a prefeitura: R$ 1,7 bi (2023)</a:t>
            </a:r>
            <a:endParaRPr lang="en-US" sz="1200" dirty="0"/>
          </a:p>
        </p:txBody>
      </p:sp>
      <p:sp>
        <p:nvSpPr>
          <p:cNvPr id="20" name="a0_4_in_bg"/>
          <p:cNvSpPr/>
          <p:nvPr/>
        </p:nvSpPr>
        <p:spPr>
          <a:xfrm>
            <a:off x="548640" y="5596128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0_4_in_icc"/>
          <p:cNvSpPr/>
          <p:nvPr/>
        </p:nvSpPr>
        <p:spPr>
          <a:xfrm>
            <a:off x="731520" y="5687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0_4_in_ic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806440"/>
            <a:ext cx="219456" cy="219456"/>
          </a:xfrm>
          <a:prstGeom prst="rect">
            <a:avLst/>
          </a:prstGeom>
        </p:spPr>
      </p:pic>
      <p:sp>
        <p:nvSpPr>
          <p:cNvPr id="23" name="a0_4_in_t"/>
          <p:cNvSpPr txBox="1"/>
          <p:nvPr/>
        </p:nvSpPr>
        <p:spPr>
          <a:xfrm>
            <a:off x="1325880" y="5596128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Lição comum: reparar custa muito mais, em vidas, dinheiro e reputação, do que prevenir.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IMPACTO NA GESTÃO COMERCIAL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CONFIANÇA ACABA, AS VENDAS VÃO JUNTO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a0_0_h"/>
          <p:cNvSpPr txBox="1"/>
          <p:nvPr/>
        </p:nvSpPr>
        <p:spPr>
          <a:xfrm>
            <a:off x="1371600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Clientes</a:t>
            </a:r>
            <a:endParaRPr lang="en-US" sz="1500" dirty="0"/>
          </a:p>
        </p:txBody>
      </p:sp>
      <p:sp>
        <p:nvSpPr>
          <p:cNvPr id="8" name="a0_0_d"/>
          <p:cNvSpPr txBox="1"/>
          <p:nvPr/>
        </p:nvSpPr>
        <p:spPr>
          <a:xfrm>
            <a:off x="749808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Perdem a confiança e trocam de fornecedor quando há alternativa.</a:t>
            </a:r>
            <a:endParaRPr lang="en-US" sz="1300" dirty="0"/>
          </a:p>
        </p:txBody>
      </p:sp>
      <p:sp>
        <p:nvSpPr>
          <p:cNvPr id="9" name="a0_1_bg"/>
          <p:cNvSpPr/>
          <p:nvPr/>
        </p:nvSpPr>
        <p:spPr>
          <a:xfrm>
            <a:off x="3390824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0_1c"/>
          <p:cNvSpPr/>
          <p:nvPr/>
        </p:nvSpPr>
        <p:spPr>
          <a:xfrm>
            <a:off x="3591992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51" y="1932127"/>
            <a:ext cx="241402" cy="241402"/>
          </a:xfrm>
          <a:prstGeom prst="rect">
            <a:avLst/>
          </a:prstGeom>
        </p:spPr>
      </p:pic>
      <p:sp>
        <p:nvSpPr>
          <p:cNvPr id="12" name="a0_1_h"/>
          <p:cNvSpPr txBox="1"/>
          <p:nvPr/>
        </p:nvSpPr>
        <p:spPr>
          <a:xfrm>
            <a:off x="4213784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Vendas</a:t>
            </a:r>
            <a:endParaRPr lang="en-US" sz="1500" dirty="0"/>
          </a:p>
        </p:txBody>
      </p:sp>
      <p:sp>
        <p:nvSpPr>
          <p:cNvPr id="13" name="a0_1_d"/>
          <p:cNvSpPr txBox="1"/>
          <p:nvPr/>
        </p:nvSpPr>
        <p:spPr>
          <a:xfrm>
            <a:off x="3591992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Grandes contratos e licitações passam a exigir critérios ESG.</a:t>
            </a:r>
            <a:endParaRPr lang="en-US" sz="1300" dirty="0"/>
          </a:p>
        </p:txBody>
      </p:sp>
      <p:sp>
        <p:nvSpPr>
          <p:cNvPr id="14" name="a0_2_bg"/>
          <p:cNvSpPr/>
          <p:nvPr/>
        </p:nvSpPr>
        <p:spPr>
          <a:xfrm>
            <a:off x="6233008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2c"/>
          <p:cNvSpPr/>
          <p:nvPr/>
        </p:nvSpPr>
        <p:spPr>
          <a:xfrm>
            <a:off x="6434176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35" y="1932127"/>
            <a:ext cx="241402" cy="241402"/>
          </a:xfrm>
          <a:prstGeom prst="rect">
            <a:avLst/>
          </a:prstGeom>
        </p:spPr>
      </p:pic>
      <p:sp>
        <p:nvSpPr>
          <p:cNvPr id="17" name="a0_2_h"/>
          <p:cNvSpPr txBox="1"/>
          <p:nvPr/>
        </p:nvSpPr>
        <p:spPr>
          <a:xfrm>
            <a:off x="7055968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Produto</a:t>
            </a:r>
            <a:endParaRPr lang="en-US" sz="1500" dirty="0"/>
          </a:p>
        </p:txBody>
      </p:sp>
      <p:sp>
        <p:nvSpPr>
          <p:cNvPr id="18" name="a0_2_d"/>
          <p:cNvSpPr txBox="1"/>
          <p:nvPr/>
        </p:nvSpPr>
        <p:spPr>
          <a:xfrm>
            <a:off x="6434176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 serviço essencial passa a ser associado a risco à saúde.</a:t>
            </a:r>
            <a:endParaRPr lang="en-US" sz="1300" dirty="0"/>
          </a:p>
        </p:txBody>
      </p:sp>
      <p:sp>
        <p:nvSpPr>
          <p:cNvPr id="19" name="a0_3_bg"/>
          <p:cNvSpPr/>
          <p:nvPr/>
        </p:nvSpPr>
        <p:spPr>
          <a:xfrm>
            <a:off x="9075191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0_3c"/>
          <p:cNvSpPr/>
          <p:nvPr/>
        </p:nvSpPr>
        <p:spPr>
          <a:xfrm>
            <a:off x="9276359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119" y="1932127"/>
            <a:ext cx="241402" cy="241402"/>
          </a:xfrm>
          <a:prstGeom prst="rect">
            <a:avLst/>
          </a:prstGeom>
        </p:spPr>
      </p:pic>
      <p:sp>
        <p:nvSpPr>
          <p:cNvPr id="22" name="a0_3_h"/>
          <p:cNvSpPr txBox="1"/>
          <p:nvPr/>
        </p:nvSpPr>
        <p:spPr>
          <a:xfrm>
            <a:off x="9898151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Marca</a:t>
            </a:r>
            <a:endParaRPr lang="en-US" sz="1500" dirty="0"/>
          </a:p>
        </p:txBody>
      </p:sp>
      <p:sp>
        <p:nvSpPr>
          <p:cNvPr id="23" name="a0_3_d"/>
          <p:cNvSpPr txBox="1"/>
          <p:nvPr/>
        </p:nvSpPr>
        <p:spPr>
          <a:xfrm>
            <a:off x="9276359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nome da empresa vira sinônimo do escândalo.</a:t>
            </a:r>
            <a:endParaRPr lang="en-US" sz="1300" dirty="0"/>
          </a:p>
        </p:txBody>
      </p:sp>
      <p:sp>
        <p:nvSpPr>
          <p:cNvPr id="24" name="a0_4_bg"/>
          <p:cNvSpPr/>
          <p:nvPr/>
        </p:nvSpPr>
        <p:spPr>
          <a:xfrm>
            <a:off x="548640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0_4c"/>
          <p:cNvSpPr/>
          <p:nvPr/>
        </p:nvSpPr>
        <p:spPr>
          <a:xfrm>
            <a:off x="749808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3760927"/>
            <a:ext cx="241402" cy="241402"/>
          </a:xfrm>
          <a:prstGeom prst="rect">
            <a:avLst/>
          </a:prstGeom>
        </p:spPr>
      </p:pic>
      <p:sp>
        <p:nvSpPr>
          <p:cNvPr id="27" name="a0_4_h"/>
          <p:cNvSpPr txBox="1"/>
          <p:nvPr/>
        </p:nvSpPr>
        <p:spPr>
          <a:xfrm>
            <a:off x="1371600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Comunicação</a:t>
            </a:r>
            <a:endParaRPr lang="en-US" sz="1500" dirty="0"/>
          </a:p>
        </p:txBody>
      </p:sp>
      <p:sp>
        <p:nvSpPr>
          <p:cNvPr id="28" name="a0_4_d"/>
          <p:cNvSpPr txBox="1"/>
          <p:nvPr/>
        </p:nvSpPr>
        <p:spPr>
          <a:xfrm>
            <a:off x="749808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Discurso verde sem prática vira greenwashing e perde credibilidade.</a:t>
            </a:r>
            <a:endParaRPr lang="en-US" sz="1300" dirty="0"/>
          </a:p>
        </p:txBody>
      </p:sp>
      <p:sp>
        <p:nvSpPr>
          <p:cNvPr id="29" name="a0_5_bg"/>
          <p:cNvSpPr/>
          <p:nvPr/>
        </p:nvSpPr>
        <p:spPr>
          <a:xfrm>
            <a:off x="3390824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0_5c"/>
          <p:cNvSpPr/>
          <p:nvPr/>
        </p:nvSpPr>
        <p:spPr>
          <a:xfrm>
            <a:off x="3591992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a0_5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751" y="3760927"/>
            <a:ext cx="241402" cy="241402"/>
          </a:xfrm>
          <a:prstGeom prst="rect">
            <a:avLst/>
          </a:prstGeom>
        </p:spPr>
      </p:pic>
      <p:sp>
        <p:nvSpPr>
          <p:cNvPr id="32" name="a0_5_h"/>
          <p:cNvSpPr txBox="1"/>
          <p:nvPr/>
        </p:nvSpPr>
        <p:spPr>
          <a:xfrm>
            <a:off x="4213784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Fornecedores</a:t>
            </a:r>
            <a:endParaRPr lang="en-US" sz="1500" dirty="0"/>
          </a:p>
        </p:txBody>
      </p:sp>
      <p:sp>
        <p:nvSpPr>
          <p:cNvPr id="33" name="a0_5_d"/>
          <p:cNvSpPr txBox="1"/>
          <p:nvPr/>
        </p:nvSpPr>
        <p:spPr>
          <a:xfrm>
            <a:off x="3591992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Parceiros evitam associação e exigem garantias ambientais.</a:t>
            </a:r>
            <a:endParaRPr lang="en-US" sz="1300" dirty="0"/>
          </a:p>
        </p:txBody>
      </p:sp>
      <p:sp>
        <p:nvSpPr>
          <p:cNvPr id="34" name="a0_6_bg"/>
          <p:cNvSpPr/>
          <p:nvPr/>
        </p:nvSpPr>
        <p:spPr>
          <a:xfrm>
            <a:off x="6233008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a0_6c"/>
          <p:cNvSpPr/>
          <p:nvPr/>
        </p:nvSpPr>
        <p:spPr>
          <a:xfrm>
            <a:off x="6434176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a0_6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935" y="3760927"/>
            <a:ext cx="241402" cy="241402"/>
          </a:xfrm>
          <a:prstGeom prst="rect">
            <a:avLst/>
          </a:prstGeom>
        </p:spPr>
      </p:pic>
      <p:sp>
        <p:nvSpPr>
          <p:cNvPr id="37" name="a0_6_h"/>
          <p:cNvSpPr txBox="1"/>
          <p:nvPr/>
        </p:nvSpPr>
        <p:spPr>
          <a:xfrm>
            <a:off x="7055968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Relacionamento</a:t>
            </a:r>
            <a:endParaRPr lang="en-US" sz="1500" dirty="0"/>
          </a:p>
        </p:txBody>
      </p:sp>
      <p:sp>
        <p:nvSpPr>
          <p:cNvPr id="38" name="a0_6_d"/>
          <p:cNvSpPr txBox="1"/>
          <p:nvPr/>
        </p:nvSpPr>
        <p:spPr>
          <a:xfrm>
            <a:off x="6434176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comunidade passa a ver a empresa como ameaça, não como vizinha.</a:t>
            </a:r>
            <a:endParaRPr lang="en-US" sz="1300" dirty="0"/>
          </a:p>
        </p:txBody>
      </p:sp>
      <p:sp>
        <p:nvSpPr>
          <p:cNvPr id="39" name="a0_7_bg"/>
          <p:cNvSpPr/>
          <p:nvPr/>
        </p:nvSpPr>
        <p:spPr>
          <a:xfrm>
            <a:off x="9075191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a0_7c"/>
          <p:cNvSpPr/>
          <p:nvPr/>
        </p:nvSpPr>
        <p:spPr>
          <a:xfrm>
            <a:off x="9276359" y="3630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a0_7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119" y="3760927"/>
            <a:ext cx="241402" cy="241402"/>
          </a:xfrm>
          <a:prstGeom prst="rect">
            <a:avLst/>
          </a:prstGeom>
        </p:spPr>
      </p:pic>
      <p:sp>
        <p:nvSpPr>
          <p:cNvPr id="42" name="a0_7_h"/>
          <p:cNvSpPr txBox="1"/>
          <p:nvPr/>
        </p:nvSpPr>
        <p:spPr>
          <a:xfrm>
            <a:off x="9898151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Reputação</a:t>
            </a:r>
            <a:endParaRPr lang="en-US" sz="1500" dirty="0"/>
          </a:p>
        </p:txBody>
      </p:sp>
      <p:sp>
        <p:nvSpPr>
          <p:cNvPr id="43" name="a0_7_d"/>
          <p:cNvSpPr txBox="1"/>
          <p:nvPr/>
        </p:nvSpPr>
        <p:spPr>
          <a:xfrm>
            <a:off x="9276359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 ativo mais caro de reconstruir: leva anos e custa milhões.</a:t>
            </a:r>
            <a:endParaRPr lang="en-US" sz="1300" dirty="0"/>
          </a:p>
        </p:txBody>
      </p:sp>
      <p:sp>
        <p:nvSpPr>
          <p:cNvPr id="44" name="a0_8_in_bg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a0_8_in_icc"/>
          <p:cNvSpPr/>
          <p:nvPr/>
        </p:nvSpPr>
        <p:spPr>
          <a:xfrm>
            <a:off x="731520" y="55092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a0_8_in_ic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628132"/>
            <a:ext cx="219456" cy="219456"/>
          </a:xfrm>
          <a:prstGeom prst="rect">
            <a:avLst/>
          </a:prstGeom>
        </p:spPr>
      </p:pic>
      <p:sp>
        <p:nvSpPr>
          <p:cNvPr id="47" name="a0_8_in_t"/>
          <p:cNvSpPr txBox="1"/>
          <p:nvPr/>
        </p:nvSpPr>
        <p:spPr>
          <a:xfrm>
            <a:off x="1325880" y="53492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quem trabalha em Gestão Comercial, ESG não é pauta do marketing: é condição para continuar vendendo.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NOSSA PROPOSTA DE INTERVENÇÃO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AÇÕES PARA SAIR DO DISCURSO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n"/>
          <p:cNvSpPr txBox="1"/>
          <p:nvPr/>
        </p:nvSpPr>
        <p:spPr>
          <a:xfrm>
            <a:off x="77724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a0_0c"/>
          <p:cNvSpPr/>
          <p:nvPr/>
        </p:nvSpPr>
        <p:spPr>
          <a:xfrm>
            <a:off x="1807403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49" y="1898294"/>
            <a:ext cx="263347" cy="263347"/>
          </a:xfrm>
          <a:prstGeom prst="rect">
            <a:avLst/>
          </a:prstGeom>
        </p:spPr>
      </p:pic>
      <p:sp>
        <p:nvSpPr>
          <p:cNvPr id="8" name="a0_0_h"/>
          <p:cNvSpPr txBox="1"/>
          <p:nvPr/>
        </p:nvSpPr>
        <p:spPr>
          <a:xfrm>
            <a:off x="777240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CONTER</a:t>
            </a:r>
            <a:endParaRPr lang="en-US" sz="1600" dirty="0"/>
          </a:p>
        </p:txBody>
      </p:sp>
      <p:sp>
        <p:nvSpPr>
          <p:cNvPr id="9" name="a0_0_d"/>
          <p:cNvSpPr txBox="1"/>
          <p:nvPr/>
        </p:nvSpPr>
        <p:spPr>
          <a:xfrm>
            <a:off x="777240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Parar a fonte de contaminação e garantir água segura imediatamente.</a:t>
            </a:r>
            <a:endParaRPr lang="en-US" sz="1400" dirty="0"/>
          </a:p>
        </p:txBody>
      </p:sp>
      <p:sp>
        <p:nvSpPr>
          <p:cNvPr id="10" name="a0_1_bg"/>
          <p:cNvSpPr/>
          <p:nvPr/>
        </p:nvSpPr>
        <p:spPr>
          <a:xfrm>
            <a:off x="2813243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1_n"/>
          <p:cNvSpPr txBox="1"/>
          <p:nvPr/>
        </p:nvSpPr>
        <p:spPr>
          <a:xfrm>
            <a:off x="3041843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a0_1c"/>
          <p:cNvSpPr/>
          <p:nvPr/>
        </p:nvSpPr>
        <p:spPr>
          <a:xfrm>
            <a:off x="4072006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652" y="1898294"/>
            <a:ext cx="263347" cy="263347"/>
          </a:xfrm>
          <a:prstGeom prst="rect">
            <a:avLst/>
          </a:prstGeom>
        </p:spPr>
      </p:pic>
      <p:sp>
        <p:nvSpPr>
          <p:cNvPr id="14" name="a0_1_h"/>
          <p:cNvSpPr txBox="1"/>
          <p:nvPr/>
        </p:nvSpPr>
        <p:spPr>
          <a:xfrm>
            <a:off x="3041843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COMUNICAR</a:t>
            </a:r>
            <a:endParaRPr lang="en-US" sz="1600" dirty="0"/>
          </a:p>
        </p:txBody>
      </p:sp>
      <p:sp>
        <p:nvSpPr>
          <p:cNvPr id="15" name="a0_1_d"/>
          <p:cNvSpPr txBox="1"/>
          <p:nvPr/>
        </p:nvSpPr>
        <p:spPr>
          <a:xfrm>
            <a:off x="3041843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Contar a verdade à comunidade e às autoridades, com dados abertos.</a:t>
            </a:r>
            <a:endParaRPr lang="en-US" sz="1400" dirty="0"/>
          </a:p>
        </p:txBody>
      </p:sp>
      <p:sp>
        <p:nvSpPr>
          <p:cNvPr id="16" name="a0_2_bg"/>
          <p:cNvSpPr/>
          <p:nvPr/>
        </p:nvSpPr>
        <p:spPr>
          <a:xfrm>
            <a:off x="5077846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0_2_n"/>
          <p:cNvSpPr txBox="1"/>
          <p:nvPr/>
        </p:nvSpPr>
        <p:spPr>
          <a:xfrm>
            <a:off x="5306446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a0_2c"/>
          <p:cNvSpPr/>
          <p:nvPr/>
        </p:nvSpPr>
        <p:spPr>
          <a:xfrm>
            <a:off x="6336609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256" y="1898294"/>
            <a:ext cx="263347" cy="263347"/>
          </a:xfrm>
          <a:prstGeom prst="rect">
            <a:avLst/>
          </a:prstGeom>
        </p:spPr>
      </p:pic>
      <p:sp>
        <p:nvSpPr>
          <p:cNvPr id="20" name="a0_2_h"/>
          <p:cNvSpPr txBox="1"/>
          <p:nvPr/>
        </p:nvSpPr>
        <p:spPr>
          <a:xfrm>
            <a:off x="5306446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REPARAR</a:t>
            </a:r>
            <a:endParaRPr lang="en-US" sz="1600" dirty="0"/>
          </a:p>
        </p:txBody>
      </p:sp>
      <p:sp>
        <p:nvSpPr>
          <p:cNvPr id="21" name="a0_2_d"/>
          <p:cNvSpPr txBox="1"/>
          <p:nvPr/>
        </p:nvSpPr>
        <p:spPr>
          <a:xfrm>
            <a:off x="5306446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Fundo de reparação, acompanhamento médico e recuperação ambiental.</a:t>
            </a:r>
            <a:endParaRPr lang="en-US" sz="1400" dirty="0"/>
          </a:p>
        </p:txBody>
      </p:sp>
      <p:sp>
        <p:nvSpPr>
          <p:cNvPr id="22" name="a0_3_bg"/>
          <p:cNvSpPr/>
          <p:nvPr/>
        </p:nvSpPr>
        <p:spPr>
          <a:xfrm>
            <a:off x="7342449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0_3_n"/>
          <p:cNvSpPr txBox="1"/>
          <p:nvPr/>
        </p:nvSpPr>
        <p:spPr>
          <a:xfrm>
            <a:off x="7571049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24" name="a0_3c"/>
          <p:cNvSpPr/>
          <p:nvPr/>
        </p:nvSpPr>
        <p:spPr>
          <a:xfrm>
            <a:off x="8601212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59" y="1898294"/>
            <a:ext cx="263347" cy="263347"/>
          </a:xfrm>
          <a:prstGeom prst="rect">
            <a:avLst/>
          </a:prstGeom>
        </p:spPr>
      </p:pic>
      <p:sp>
        <p:nvSpPr>
          <p:cNvPr id="26" name="a0_3_h"/>
          <p:cNvSpPr txBox="1"/>
          <p:nvPr/>
        </p:nvSpPr>
        <p:spPr>
          <a:xfrm>
            <a:off x="7571049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GOVERNAR</a:t>
            </a:r>
            <a:endParaRPr lang="en-US" sz="1600" dirty="0"/>
          </a:p>
        </p:txBody>
      </p:sp>
      <p:sp>
        <p:nvSpPr>
          <p:cNvPr id="27" name="a0_3_d"/>
          <p:cNvSpPr txBox="1"/>
          <p:nvPr/>
        </p:nvSpPr>
        <p:spPr>
          <a:xfrm>
            <a:off x="7571049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Comitê ESG no conselho, auditoria externa e canal de denúncia.</a:t>
            </a:r>
            <a:endParaRPr lang="en-US" sz="1400" dirty="0"/>
          </a:p>
        </p:txBody>
      </p:sp>
      <p:sp>
        <p:nvSpPr>
          <p:cNvPr id="28" name="a0_4_bg"/>
          <p:cNvSpPr/>
          <p:nvPr/>
        </p:nvSpPr>
        <p:spPr>
          <a:xfrm>
            <a:off x="9607052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0_4_n"/>
          <p:cNvSpPr txBox="1"/>
          <p:nvPr/>
        </p:nvSpPr>
        <p:spPr>
          <a:xfrm>
            <a:off x="9835652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05</a:t>
            </a:r>
            <a:endParaRPr lang="en-US" sz="2800" dirty="0"/>
          </a:p>
        </p:txBody>
      </p:sp>
      <p:sp>
        <p:nvSpPr>
          <p:cNvPr id="30" name="a0_4c"/>
          <p:cNvSpPr/>
          <p:nvPr/>
        </p:nvSpPr>
        <p:spPr>
          <a:xfrm>
            <a:off x="10865815" y="175564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462" y="1898294"/>
            <a:ext cx="263347" cy="263347"/>
          </a:xfrm>
          <a:prstGeom prst="rect">
            <a:avLst/>
          </a:prstGeom>
        </p:spPr>
      </p:pic>
      <p:sp>
        <p:nvSpPr>
          <p:cNvPr id="32" name="a0_4_h"/>
          <p:cNvSpPr txBox="1"/>
          <p:nvPr/>
        </p:nvSpPr>
        <p:spPr>
          <a:xfrm>
            <a:off x="9835652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PREVENIR</a:t>
            </a:r>
            <a:endParaRPr lang="en-US" sz="1600" dirty="0"/>
          </a:p>
        </p:txBody>
      </p:sp>
      <p:sp>
        <p:nvSpPr>
          <p:cNvPr id="33" name="a0_4_d"/>
          <p:cNvSpPr txBox="1"/>
          <p:nvPr/>
        </p:nvSpPr>
        <p:spPr>
          <a:xfrm>
            <a:off x="9835652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Trocar o insumo tóxico, monitorar sempre e certificar a gestão ambiental (ISO 14001).</a:t>
            </a:r>
            <a:endParaRPr lang="en-US" sz="1400" dirty="0"/>
          </a:p>
        </p:txBody>
      </p:sp>
      <p:sp>
        <p:nvSpPr>
          <p:cNvPr id="34" name="a0_5_ch"/>
          <p:cNvSpPr txBox="1"/>
          <p:nvPr/>
        </p:nvSpPr>
        <p:spPr>
          <a:xfrm>
            <a:off x="548640" y="5468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COBRE TODO O DESAFIO DO GRUPO</a:t>
            </a:r>
            <a:endParaRPr lang="en-US" sz="1100" dirty="0"/>
          </a:p>
        </p:txBody>
      </p:sp>
      <p:sp>
        <p:nvSpPr>
          <p:cNvPr id="35" name="a0_6_chip"/>
          <p:cNvSpPr/>
          <p:nvPr/>
        </p:nvSpPr>
        <p:spPr>
          <a:xfrm>
            <a:off x="548640" y="5833872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a0_6_chipt"/>
          <p:cNvSpPr txBox="1"/>
          <p:nvPr/>
        </p:nvSpPr>
        <p:spPr>
          <a:xfrm>
            <a:off x="548640" y="5833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Plano de ação</a:t>
            </a:r>
            <a:endParaRPr lang="en-US" sz="1200" dirty="0"/>
          </a:p>
        </p:txBody>
      </p:sp>
      <p:sp>
        <p:nvSpPr>
          <p:cNvPr id="37" name="a0_7_chip"/>
          <p:cNvSpPr/>
          <p:nvPr/>
        </p:nvSpPr>
        <p:spPr>
          <a:xfrm>
            <a:off x="2011680" y="5833872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a0_7_chipt"/>
          <p:cNvSpPr txBox="1"/>
          <p:nvPr/>
        </p:nvSpPr>
        <p:spPr>
          <a:xfrm>
            <a:off x="2011680" y="5833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Reparação</a:t>
            </a:r>
            <a:endParaRPr lang="en-US" sz="1200" dirty="0"/>
          </a:p>
        </p:txBody>
      </p:sp>
      <p:sp>
        <p:nvSpPr>
          <p:cNvPr id="39" name="a0_8_chip"/>
          <p:cNvSpPr/>
          <p:nvPr/>
        </p:nvSpPr>
        <p:spPr>
          <a:xfrm>
            <a:off x="3246120" y="5833872"/>
            <a:ext cx="25146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a0_8_chipt"/>
          <p:cNvSpPr txBox="1"/>
          <p:nvPr/>
        </p:nvSpPr>
        <p:spPr>
          <a:xfrm>
            <a:off x="3246120" y="5833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Comunicação com a comunidade</a:t>
            </a:r>
            <a:endParaRPr lang="en-US" sz="1200" dirty="0"/>
          </a:p>
        </p:txBody>
      </p:sp>
      <p:sp>
        <p:nvSpPr>
          <p:cNvPr id="41" name="a0_9_chip"/>
          <p:cNvSpPr/>
          <p:nvPr/>
        </p:nvSpPr>
        <p:spPr>
          <a:xfrm>
            <a:off x="5897880" y="5833872"/>
            <a:ext cx="150876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a0_9_chipt"/>
          <p:cNvSpPr txBox="1"/>
          <p:nvPr/>
        </p:nvSpPr>
        <p:spPr>
          <a:xfrm>
            <a:off x="5897880" y="58338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Órgãos públicos</a:t>
            </a:r>
            <a:endParaRPr lang="en-US" sz="1200" dirty="0"/>
          </a:p>
        </p:txBody>
      </p:sp>
      <p:sp>
        <p:nvSpPr>
          <p:cNvPr id="43" name="a0_10_chip"/>
          <p:cNvSpPr/>
          <p:nvPr/>
        </p:nvSpPr>
        <p:spPr>
          <a:xfrm>
            <a:off x="7543800" y="5833872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a0_10_chipt"/>
          <p:cNvSpPr txBox="1"/>
          <p:nvPr/>
        </p:nvSpPr>
        <p:spPr>
          <a:xfrm>
            <a:off x="7543800" y="58338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Proteção dos consumidores</a:t>
            </a:r>
            <a:endParaRPr lang="en-US" sz="1200" dirty="0"/>
          </a:p>
        </p:txBody>
      </p:sp>
      <p:sp>
        <p:nvSpPr>
          <p:cNvPr id="45" name="a0_11_chip"/>
          <p:cNvSpPr/>
          <p:nvPr/>
        </p:nvSpPr>
        <p:spPr>
          <a:xfrm>
            <a:off x="9784080" y="5833872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a0_11_chipt"/>
          <p:cNvSpPr txBox="1"/>
          <p:nvPr/>
        </p:nvSpPr>
        <p:spPr>
          <a:xfrm>
            <a:off x="9784080" y="5833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Prevenção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PROPOSTA DE INTERVENÇÃO · PLANO DE 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QUÊ, ATÉ QUANDO E COMO MEDIMOS</a:t>
            </a:r>
            <a:endParaRPr lang="en-US" sz="2800" dirty="0"/>
          </a:p>
        </p:txBody>
      </p:sp>
      <p:sp>
        <p:nvSpPr>
          <p:cNvPr id="4" name="a0_0_h0"/>
          <p:cNvSpPr txBox="1"/>
          <p:nvPr/>
        </p:nvSpPr>
        <p:spPr>
          <a:xfrm>
            <a:off x="54864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AÇÃO</a:t>
            </a:r>
            <a:endParaRPr lang="en-US" sz="1100" dirty="0"/>
          </a:p>
        </p:txBody>
      </p:sp>
      <p:sp>
        <p:nvSpPr>
          <p:cNvPr id="5" name="a0_0_h1"/>
          <p:cNvSpPr txBox="1"/>
          <p:nvPr/>
        </p:nvSpPr>
        <p:spPr>
          <a:xfrm>
            <a:off x="1874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O QUE FAZER</a:t>
            </a:r>
            <a:endParaRPr lang="en-US" sz="1100" dirty="0"/>
          </a:p>
        </p:txBody>
      </p:sp>
      <p:sp>
        <p:nvSpPr>
          <p:cNvPr id="6" name="a0_0_h2"/>
          <p:cNvSpPr txBox="1"/>
          <p:nvPr/>
        </p:nvSpPr>
        <p:spPr>
          <a:xfrm>
            <a:off x="544068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RESPONSÁVEL</a:t>
            </a:r>
            <a:endParaRPr lang="en-US" sz="1100" dirty="0"/>
          </a:p>
        </p:txBody>
      </p:sp>
      <p:sp>
        <p:nvSpPr>
          <p:cNvPr id="7" name="a0_0_h3"/>
          <p:cNvSpPr txBox="1"/>
          <p:nvPr/>
        </p:nvSpPr>
        <p:spPr>
          <a:xfrm>
            <a:off x="722376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INDICADOR</a:t>
            </a:r>
            <a:endParaRPr lang="en-US" sz="1100" dirty="0"/>
          </a:p>
        </p:txBody>
      </p:sp>
      <p:sp>
        <p:nvSpPr>
          <p:cNvPr id="8" name="a0_0_h4"/>
          <p:cNvSpPr txBox="1"/>
          <p:nvPr/>
        </p:nvSpPr>
        <p:spPr>
          <a:xfrm>
            <a:off x="9372600" y="15544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CRONOGRAMA (MESES)</a:t>
            </a:r>
            <a:endParaRPr lang="en-US" sz="1100" dirty="0"/>
          </a:p>
        </p:txBody>
      </p:sp>
      <p:sp>
        <p:nvSpPr>
          <p:cNvPr id="9" name="a0_0_m0"/>
          <p:cNvSpPr txBox="1"/>
          <p:nvPr/>
        </p:nvSpPr>
        <p:spPr>
          <a:xfrm>
            <a:off x="9189720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a0_0_m6"/>
          <p:cNvSpPr txBox="1"/>
          <p:nvPr/>
        </p:nvSpPr>
        <p:spPr>
          <a:xfrm>
            <a:off x="9757334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a0_0_m12"/>
          <p:cNvSpPr txBox="1"/>
          <p:nvPr/>
        </p:nvSpPr>
        <p:spPr>
          <a:xfrm>
            <a:off x="10324948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12</a:t>
            </a:r>
            <a:endParaRPr lang="en-US" sz="1000" dirty="0"/>
          </a:p>
        </p:txBody>
      </p:sp>
      <p:sp>
        <p:nvSpPr>
          <p:cNvPr id="12" name="a0_0_m18"/>
          <p:cNvSpPr txBox="1"/>
          <p:nvPr/>
        </p:nvSpPr>
        <p:spPr>
          <a:xfrm>
            <a:off x="10892561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18</a:t>
            </a:r>
            <a:endParaRPr lang="en-US" sz="1000" dirty="0"/>
          </a:p>
        </p:txBody>
      </p:sp>
      <p:sp>
        <p:nvSpPr>
          <p:cNvPr id="13" name="a0_0_m24"/>
          <p:cNvSpPr txBox="1"/>
          <p:nvPr/>
        </p:nvSpPr>
        <p:spPr>
          <a:xfrm>
            <a:off x="11460175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24</a:t>
            </a:r>
            <a:endParaRPr lang="en-US" sz="1000" dirty="0"/>
          </a:p>
        </p:txBody>
      </p:sp>
      <p:sp>
        <p:nvSpPr>
          <p:cNvPr id="14" name="a0_1_bg"/>
          <p:cNvSpPr/>
          <p:nvPr/>
        </p:nvSpPr>
        <p:spPr>
          <a:xfrm>
            <a:off x="548640" y="210312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a0_1_chip"/>
          <p:cNvSpPr/>
          <p:nvPr/>
        </p:nvSpPr>
        <p:spPr>
          <a:xfrm>
            <a:off x="640080" y="228600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a0_1_a"/>
          <p:cNvSpPr txBox="1"/>
          <p:nvPr/>
        </p:nvSpPr>
        <p:spPr>
          <a:xfrm>
            <a:off x="640080" y="2286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Conter</a:t>
            </a:r>
            <a:endParaRPr lang="en-US" sz="1200" dirty="0"/>
          </a:p>
        </p:txBody>
      </p:sp>
      <p:sp>
        <p:nvSpPr>
          <p:cNvPr id="17" name="a0_1_o"/>
          <p:cNvSpPr txBox="1"/>
          <p:nvPr/>
        </p:nvSpPr>
        <p:spPr>
          <a:xfrm>
            <a:off x="1874520" y="21031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Isolar a fonte, distribuir água potável e instalar filtros nas casas afetadas</a:t>
            </a:r>
            <a:endParaRPr lang="en-US" sz="1200" dirty="0"/>
          </a:p>
        </p:txBody>
      </p:sp>
      <p:sp>
        <p:nvSpPr>
          <p:cNvPr id="18" name="a0_1_r"/>
          <p:cNvSpPr txBox="1"/>
          <p:nvPr/>
        </p:nvSpPr>
        <p:spPr>
          <a:xfrm>
            <a:off x="544068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Operações</a:t>
            </a:r>
            <a:endParaRPr lang="en-US" sz="1200" dirty="0"/>
          </a:p>
        </p:txBody>
      </p:sp>
      <p:sp>
        <p:nvSpPr>
          <p:cNvPr id="19" name="a0_1_k"/>
          <p:cNvSpPr txBox="1"/>
          <p:nvPr/>
        </p:nvSpPr>
        <p:spPr>
          <a:xfrm>
            <a:off x="7223760" y="2103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100% das casas com água segura</a:t>
            </a:r>
            <a:endParaRPr lang="en-US" sz="1200" dirty="0"/>
          </a:p>
        </p:txBody>
      </p:sp>
      <p:sp>
        <p:nvSpPr>
          <p:cNvPr id="20" name="a0_1_track"/>
          <p:cNvSpPr/>
          <p:nvPr/>
        </p:nvSpPr>
        <p:spPr>
          <a:xfrm>
            <a:off x="9372600" y="2450592"/>
            <a:ext cx="2270455" cy="36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1_0_bar_wipe"/>
          <p:cNvSpPr/>
          <p:nvPr/>
        </p:nvSpPr>
        <p:spPr>
          <a:xfrm>
            <a:off x="9372600" y="2331720"/>
            <a:ext cx="137160" cy="274320"/>
          </a:xfrm>
          <a:prstGeom prst="roundRect">
            <a:avLst>
              <a:gd name="adj" fmla="val 10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a0_2_bg"/>
          <p:cNvSpPr/>
          <p:nvPr/>
        </p:nvSpPr>
        <p:spPr>
          <a:xfrm>
            <a:off x="548640" y="29260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a0_2_chip"/>
          <p:cNvSpPr/>
          <p:nvPr/>
        </p:nvSpPr>
        <p:spPr>
          <a:xfrm>
            <a:off x="640080" y="31089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a0_2_a"/>
          <p:cNvSpPr txBox="1"/>
          <p:nvPr/>
        </p:nvSpPr>
        <p:spPr>
          <a:xfrm>
            <a:off x="640080" y="3108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Comunicar</a:t>
            </a:r>
            <a:endParaRPr lang="en-US" sz="1200" dirty="0"/>
          </a:p>
        </p:txBody>
      </p:sp>
      <p:sp>
        <p:nvSpPr>
          <p:cNvPr id="25" name="a0_2_o"/>
          <p:cNvSpPr txBox="1"/>
          <p:nvPr/>
        </p:nvSpPr>
        <p:spPr>
          <a:xfrm>
            <a:off x="1874520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Avisar órgão ambiental e moradores, reuniões mensais e portal com laudos da água</a:t>
            </a:r>
            <a:endParaRPr lang="en-US" sz="1200" dirty="0"/>
          </a:p>
        </p:txBody>
      </p:sp>
      <p:sp>
        <p:nvSpPr>
          <p:cNvPr id="26" name="a0_2_r"/>
          <p:cNvSpPr txBox="1"/>
          <p:nvPr/>
        </p:nvSpPr>
        <p:spPr>
          <a:xfrm>
            <a:off x="544068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Comunicação e Jurídico</a:t>
            </a:r>
            <a:endParaRPr lang="en-US" sz="1200" dirty="0"/>
          </a:p>
        </p:txBody>
      </p:sp>
      <p:sp>
        <p:nvSpPr>
          <p:cNvPr id="27" name="a0_2_k"/>
          <p:cNvSpPr txBox="1"/>
          <p:nvPr/>
        </p:nvSpPr>
        <p:spPr>
          <a:xfrm>
            <a:off x="7223760" y="2926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Laudos publicados todo mês</a:t>
            </a:r>
            <a:endParaRPr lang="en-US" sz="1200" dirty="0"/>
          </a:p>
        </p:txBody>
      </p:sp>
      <p:sp>
        <p:nvSpPr>
          <p:cNvPr id="28" name="a0_2_track"/>
          <p:cNvSpPr/>
          <p:nvPr/>
        </p:nvSpPr>
        <p:spPr>
          <a:xfrm>
            <a:off x="9372600" y="3273552"/>
            <a:ext cx="2270455" cy="36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1_1_bar_wipe"/>
          <p:cNvSpPr/>
          <p:nvPr/>
        </p:nvSpPr>
        <p:spPr>
          <a:xfrm>
            <a:off x="9372600" y="3154680"/>
            <a:ext cx="137160" cy="274320"/>
          </a:xfrm>
          <a:prstGeom prst="roundRect">
            <a:avLst>
              <a:gd name="adj" fmla="val 10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a0_3_bg"/>
          <p:cNvSpPr/>
          <p:nvPr/>
        </p:nvSpPr>
        <p:spPr>
          <a:xfrm>
            <a:off x="548640" y="374904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a0_3_chip"/>
          <p:cNvSpPr/>
          <p:nvPr/>
        </p:nvSpPr>
        <p:spPr>
          <a:xfrm>
            <a:off x="64008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a0_3_a"/>
          <p:cNvSpPr txBox="1"/>
          <p:nvPr/>
        </p:nvSpPr>
        <p:spPr>
          <a:xfrm>
            <a:off x="640080" y="3931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Reparar</a:t>
            </a:r>
            <a:endParaRPr lang="en-US" sz="1200" dirty="0"/>
          </a:p>
        </p:txBody>
      </p:sp>
      <p:sp>
        <p:nvSpPr>
          <p:cNvPr id="33" name="a0_3_o"/>
          <p:cNvSpPr txBox="1"/>
          <p:nvPr/>
        </p:nvSpPr>
        <p:spPr>
          <a:xfrm>
            <a:off x="1874520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Fundo de reparação, exames e tratamento gratuitos, compra voluntária de imóveis a preço justo</a:t>
            </a:r>
            <a:endParaRPr lang="en-US" sz="1200" dirty="0"/>
          </a:p>
        </p:txBody>
      </p:sp>
      <p:sp>
        <p:nvSpPr>
          <p:cNvPr id="34" name="a0_3_r"/>
          <p:cNvSpPr txBox="1"/>
          <p:nvPr/>
        </p:nvSpPr>
        <p:spPr>
          <a:xfrm>
            <a:off x="544068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Comitê de Reparação</a:t>
            </a:r>
            <a:endParaRPr lang="en-US" sz="1200" dirty="0"/>
          </a:p>
        </p:txBody>
      </p:sp>
      <p:sp>
        <p:nvSpPr>
          <p:cNvPr id="35" name="a0_3_k"/>
          <p:cNvSpPr txBox="1"/>
          <p:nvPr/>
        </p:nvSpPr>
        <p:spPr>
          <a:xfrm>
            <a:off x="7223760" y="3749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% de famílias atendidas</a:t>
            </a:r>
            <a:endParaRPr lang="en-US" sz="1200" dirty="0"/>
          </a:p>
        </p:txBody>
      </p:sp>
      <p:sp>
        <p:nvSpPr>
          <p:cNvPr id="36" name="a0_3_track"/>
          <p:cNvSpPr/>
          <p:nvPr/>
        </p:nvSpPr>
        <p:spPr>
          <a:xfrm>
            <a:off x="9372600" y="4096512"/>
            <a:ext cx="2270455" cy="36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a1_2_bar_wipe"/>
          <p:cNvSpPr/>
          <p:nvPr/>
        </p:nvSpPr>
        <p:spPr>
          <a:xfrm>
            <a:off x="9467202" y="3977640"/>
            <a:ext cx="1040625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a0_4_bg"/>
          <p:cNvSpPr/>
          <p:nvPr/>
        </p:nvSpPr>
        <p:spPr>
          <a:xfrm>
            <a:off x="548640" y="457200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a0_4_chip"/>
          <p:cNvSpPr/>
          <p:nvPr/>
        </p:nvSpPr>
        <p:spPr>
          <a:xfrm>
            <a:off x="640080" y="475488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a0_4_a"/>
          <p:cNvSpPr txBox="1"/>
          <p:nvPr/>
        </p:nvSpPr>
        <p:spPr>
          <a:xfrm>
            <a:off x="640080" y="4754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Governar</a:t>
            </a:r>
            <a:endParaRPr lang="en-US" sz="1200" dirty="0"/>
          </a:p>
        </p:txBody>
      </p:sp>
      <p:sp>
        <p:nvSpPr>
          <p:cNvPr id="41" name="a0_4_o"/>
          <p:cNvSpPr txBox="1"/>
          <p:nvPr/>
        </p:nvSpPr>
        <p:spPr>
          <a:xfrm>
            <a:off x="1874520" y="45720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Comitê ESG no conselho, auditoria externa anual e canal de denúncia independente</a:t>
            </a:r>
            <a:endParaRPr lang="en-US" sz="1200" dirty="0"/>
          </a:p>
        </p:txBody>
      </p:sp>
      <p:sp>
        <p:nvSpPr>
          <p:cNvPr id="42" name="a0_4_r"/>
          <p:cNvSpPr txBox="1"/>
          <p:nvPr/>
        </p:nvSpPr>
        <p:spPr>
          <a:xfrm>
            <a:off x="5440680" y="4572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Conselho de Administração</a:t>
            </a:r>
            <a:endParaRPr lang="en-US" sz="1200" dirty="0"/>
          </a:p>
        </p:txBody>
      </p:sp>
      <p:sp>
        <p:nvSpPr>
          <p:cNvPr id="43" name="a0_4_k"/>
          <p:cNvSpPr txBox="1"/>
          <p:nvPr/>
        </p:nvSpPr>
        <p:spPr>
          <a:xfrm>
            <a:off x="7223760" y="45720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Denúncias apuradas no prazo</a:t>
            </a:r>
            <a:endParaRPr lang="en-US" sz="1200" dirty="0"/>
          </a:p>
        </p:txBody>
      </p:sp>
      <p:sp>
        <p:nvSpPr>
          <p:cNvPr id="44" name="a0_4_track"/>
          <p:cNvSpPr/>
          <p:nvPr/>
        </p:nvSpPr>
        <p:spPr>
          <a:xfrm>
            <a:off x="9372600" y="4919472"/>
            <a:ext cx="2270455" cy="36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a1_3_bar_wipe"/>
          <p:cNvSpPr/>
          <p:nvPr/>
        </p:nvSpPr>
        <p:spPr>
          <a:xfrm>
            <a:off x="9656407" y="4800600"/>
            <a:ext cx="283807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a0_5_bg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a0_5_chip"/>
          <p:cNvSpPr/>
          <p:nvPr/>
        </p:nvSpPr>
        <p:spPr>
          <a:xfrm>
            <a:off x="640080" y="557784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a0_5_a"/>
          <p:cNvSpPr txBox="1"/>
          <p:nvPr/>
        </p:nvSpPr>
        <p:spPr>
          <a:xfrm>
            <a:off x="640080" y="5577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Prevenir</a:t>
            </a:r>
            <a:endParaRPr lang="en-US" sz="1200" dirty="0"/>
          </a:p>
        </p:txBody>
      </p:sp>
      <p:sp>
        <p:nvSpPr>
          <p:cNvPr id="49" name="a0_5_o"/>
          <p:cNvSpPr txBox="1"/>
          <p:nvPr/>
        </p:nvSpPr>
        <p:spPr>
          <a:xfrm>
            <a:off x="1874520" y="5394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Substituir o cromo hexavalente, monitorar os poços e implantar a ISO 14001</a:t>
            </a:r>
            <a:endParaRPr lang="en-US" sz="1200" dirty="0"/>
          </a:p>
        </p:txBody>
      </p:sp>
      <p:sp>
        <p:nvSpPr>
          <p:cNvPr id="50" name="a0_5_r"/>
          <p:cNvSpPr txBox="1"/>
          <p:nvPr/>
        </p:nvSpPr>
        <p:spPr>
          <a:xfrm>
            <a:off x="5440680" y="5394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Engenharia e Meio Ambiente</a:t>
            </a:r>
            <a:endParaRPr lang="en-US" sz="1200" dirty="0"/>
          </a:p>
        </p:txBody>
      </p:sp>
      <p:sp>
        <p:nvSpPr>
          <p:cNvPr id="51" name="a0_5_k"/>
          <p:cNvSpPr txBox="1"/>
          <p:nvPr/>
        </p:nvSpPr>
        <p:spPr>
          <a:xfrm>
            <a:off x="7223760" y="5394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% de poços dentro do limite legal</a:t>
            </a:r>
            <a:endParaRPr lang="en-US" sz="1200" dirty="0"/>
          </a:p>
        </p:txBody>
      </p:sp>
      <p:sp>
        <p:nvSpPr>
          <p:cNvPr id="52" name="a0_5_track"/>
          <p:cNvSpPr/>
          <p:nvPr/>
        </p:nvSpPr>
        <p:spPr>
          <a:xfrm>
            <a:off x="9372600" y="5742432"/>
            <a:ext cx="2270455" cy="36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a1_4_bar_wipe"/>
          <p:cNvSpPr/>
          <p:nvPr/>
        </p:nvSpPr>
        <p:spPr>
          <a:xfrm>
            <a:off x="9940214" y="5623560"/>
            <a:ext cx="1702841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PROPOSTA DE INTERVENÇÃO · INDICADORES ESG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PROVAR QUE A MUDANÇA É REAL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3515258" cy="452628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a0_0_h"/>
          <p:cNvSpPr txBox="1"/>
          <p:nvPr/>
        </p:nvSpPr>
        <p:spPr>
          <a:xfrm>
            <a:off x="1508760" y="181051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 · AMBIENTAL</a:t>
            </a:r>
            <a:endParaRPr lang="en-US" sz="1400" dirty="0"/>
          </a:p>
        </p:txBody>
      </p:sp>
      <p:sp>
        <p:nvSpPr>
          <p:cNvPr id="8" name="a1_0_v"/>
          <p:cNvSpPr txBox="1"/>
          <p:nvPr/>
        </p:nvSpPr>
        <p:spPr>
          <a:xfrm>
            <a:off x="822960" y="26060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</a:t>
            </a:r>
            <a:endParaRPr lang="en-US" sz="4400" dirty="0"/>
          </a:p>
        </p:txBody>
      </p:sp>
      <p:sp>
        <p:nvSpPr>
          <p:cNvPr id="9" name="a1_0_d"/>
          <p:cNvSpPr txBox="1"/>
          <p:nvPr/>
        </p:nvSpPr>
        <p:spPr>
          <a:xfrm>
            <a:off x="822960" y="3383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poços acima do limite legal de cromo em até 24 meses</a:t>
            </a:r>
            <a:endParaRPr lang="en-US" sz="1400" dirty="0"/>
          </a:p>
        </p:txBody>
      </p:sp>
      <p:sp>
        <p:nvSpPr>
          <p:cNvPr id="10" name="a2_0_v"/>
          <p:cNvSpPr txBox="1"/>
          <p:nvPr/>
        </p:nvSpPr>
        <p:spPr>
          <a:xfrm>
            <a:off x="822960" y="43434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100%</a:t>
            </a:r>
            <a:endParaRPr lang="en-US" sz="4400" dirty="0"/>
          </a:p>
        </p:txBody>
      </p:sp>
      <p:sp>
        <p:nvSpPr>
          <p:cNvPr id="11" name="a2_0_d"/>
          <p:cNvSpPr txBox="1"/>
          <p:nvPr/>
        </p:nvSpPr>
        <p:spPr>
          <a:xfrm>
            <a:off x="82296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dos resíduos químicos com destinação certificada</a:t>
            </a:r>
            <a:endParaRPr lang="en-US" sz="1400" dirty="0"/>
          </a:p>
        </p:txBody>
      </p:sp>
      <p:sp>
        <p:nvSpPr>
          <p:cNvPr id="12" name="a0_1_bg"/>
          <p:cNvSpPr/>
          <p:nvPr/>
        </p:nvSpPr>
        <p:spPr>
          <a:xfrm>
            <a:off x="4338218" y="1600200"/>
            <a:ext cx="3515258" cy="452628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1c"/>
          <p:cNvSpPr/>
          <p:nvPr/>
        </p:nvSpPr>
        <p:spPr>
          <a:xfrm>
            <a:off x="4612538" y="18105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1953158"/>
            <a:ext cx="263347" cy="263347"/>
          </a:xfrm>
          <a:prstGeom prst="rect">
            <a:avLst/>
          </a:prstGeom>
        </p:spPr>
      </p:pic>
      <p:sp>
        <p:nvSpPr>
          <p:cNvPr id="15" name="a0_1_h"/>
          <p:cNvSpPr txBox="1"/>
          <p:nvPr/>
        </p:nvSpPr>
        <p:spPr>
          <a:xfrm>
            <a:off x="5298338" y="181051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 · SOCIAL</a:t>
            </a:r>
            <a:endParaRPr lang="en-US" sz="1400" dirty="0"/>
          </a:p>
        </p:txBody>
      </p:sp>
      <p:sp>
        <p:nvSpPr>
          <p:cNvPr id="16" name="a1_1_v"/>
          <p:cNvSpPr txBox="1"/>
          <p:nvPr/>
        </p:nvSpPr>
        <p:spPr>
          <a:xfrm>
            <a:off x="4612538" y="26060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100%</a:t>
            </a:r>
            <a:endParaRPr lang="en-US" sz="4400" dirty="0"/>
          </a:p>
        </p:txBody>
      </p:sp>
      <p:sp>
        <p:nvSpPr>
          <p:cNvPr id="17" name="a1_1_d"/>
          <p:cNvSpPr txBox="1"/>
          <p:nvPr/>
        </p:nvSpPr>
        <p:spPr>
          <a:xfrm>
            <a:off x="4612538" y="3383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das famílias afetadas com exames gratuitos em até 6 meses</a:t>
            </a:r>
            <a:endParaRPr lang="en-US" sz="1400" dirty="0"/>
          </a:p>
        </p:txBody>
      </p:sp>
      <p:sp>
        <p:nvSpPr>
          <p:cNvPr id="18" name="a2_1_v"/>
          <p:cNvSpPr txBox="1"/>
          <p:nvPr/>
        </p:nvSpPr>
        <p:spPr>
          <a:xfrm>
            <a:off x="4612538" y="43434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70%</a:t>
            </a:r>
            <a:endParaRPr lang="en-US" sz="4400" dirty="0"/>
          </a:p>
        </p:txBody>
      </p:sp>
      <p:sp>
        <p:nvSpPr>
          <p:cNvPr id="19" name="a2_1_d"/>
          <p:cNvSpPr txBox="1"/>
          <p:nvPr/>
        </p:nvSpPr>
        <p:spPr>
          <a:xfrm>
            <a:off x="461253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 confiança mínima da comunidade na pesquisa anual</a:t>
            </a:r>
            <a:endParaRPr lang="en-US" sz="1400" dirty="0"/>
          </a:p>
        </p:txBody>
      </p:sp>
      <p:sp>
        <p:nvSpPr>
          <p:cNvPr id="20" name="a0_2_bg"/>
          <p:cNvSpPr/>
          <p:nvPr/>
        </p:nvSpPr>
        <p:spPr>
          <a:xfrm>
            <a:off x="8127797" y="1600200"/>
            <a:ext cx="3515258" cy="452628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0_2c"/>
          <p:cNvSpPr/>
          <p:nvPr/>
        </p:nvSpPr>
        <p:spPr>
          <a:xfrm>
            <a:off x="8402117" y="18105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1953158"/>
            <a:ext cx="263347" cy="263347"/>
          </a:xfrm>
          <a:prstGeom prst="rect">
            <a:avLst/>
          </a:prstGeom>
        </p:spPr>
      </p:pic>
      <p:sp>
        <p:nvSpPr>
          <p:cNvPr id="23" name="a0_2_h"/>
          <p:cNvSpPr txBox="1"/>
          <p:nvPr/>
        </p:nvSpPr>
        <p:spPr>
          <a:xfrm>
            <a:off x="9087917" y="181051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G · GOVERNANÇA</a:t>
            </a:r>
            <a:endParaRPr lang="en-US" sz="1400" dirty="0"/>
          </a:p>
        </p:txBody>
      </p:sp>
      <p:sp>
        <p:nvSpPr>
          <p:cNvPr id="24" name="a1_2_v"/>
          <p:cNvSpPr txBox="1"/>
          <p:nvPr/>
        </p:nvSpPr>
        <p:spPr>
          <a:xfrm>
            <a:off x="8402117" y="26060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30 dias</a:t>
            </a:r>
            <a:endParaRPr lang="en-US" sz="4400" dirty="0"/>
          </a:p>
        </p:txBody>
      </p:sp>
      <p:sp>
        <p:nvSpPr>
          <p:cNvPr id="25" name="a1_2_d"/>
          <p:cNvSpPr txBox="1"/>
          <p:nvPr/>
        </p:nvSpPr>
        <p:spPr>
          <a:xfrm>
            <a:off x="8402117" y="3383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prazo máximo para responder a toda denúncia recebida</a:t>
            </a:r>
            <a:endParaRPr lang="en-US" sz="1400" dirty="0"/>
          </a:p>
        </p:txBody>
      </p:sp>
      <p:sp>
        <p:nvSpPr>
          <p:cNvPr id="26" name="a2_2_v"/>
          <p:cNvSpPr txBox="1"/>
          <p:nvPr/>
        </p:nvSpPr>
        <p:spPr>
          <a:xfrm>
            <a:off x="8402117" y="43434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 por ano</a:t>
            </a:r>
            <a:endParaRPr lang="en-US" sz="4400" dirty="0"/>
          </a:p>
        </p:txBody>
      </p:sp>
      <p:sp>
        <p:nvSpPr>
          <p:cNvPr id="27" name="a2_2_d"/>
          <p:cNvSpPr txBox="1"/>
          <p:nvPr/>
        </p:nvSpPr>
        <p:spPr>
          <a:xfrm>
            <a:off x="840211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relatório de sustentabilidade auditado (padrão GRI)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PERGUNTA PROVOCADORA</a:t>
            </a:r>
            <a:endParaRPr lang="en-US" sz="1200" dirty="0"/>
          </a:p>
        </p:txBody>
      </p:sp>
      <p:sp>
        <p:nvSpPr>
          <p:cNvPr id="3" name="a0_0_q"/>
          <p:cNvSpPr txBox="1"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uma empresa deve fazer quando reconhecer que sua atividade causou prejuízos à sociedade?</a:t>
            </a:r>
            <a:endParaRPr lang="en-US" sz="3400" dirty="0"/>
          </a:p>
        </p:txBody>
      </p:sp>
      <p:sp>
        <p:nvSpPr>
          <p:cNvPr id="4" name="a0_1_s"/>
          <p:cNvSpPr txBox="1"/>
          <p:nvPr/>
        </p:nvSpPr>
        <p:spPr>
          <a:xfrm>
            <a:off x="548640" y="2468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Antes da nossa resposta: o que vocês fariam?</a:t>
            </a:r>
            <a:endParaRPr lang="en-US" sz="1800" dirty="0"/>
          </a:p>
        </p:txBody>
      </p:sp>
      <p:sp>
        <p:nvSpPr>
          <p:cNvPr id="5" name="a1_0_bg"/>
          <p:cNvSpPr/>
          <p:nvPr/>
        </p:nvSpPr>
        <p:spPr>
          <a:xfrm>
            <a:off x="548640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0c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1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3480206"/>
            <a:ext cx="263347" cy="263347"/>
          </a:xfrm>
          <a:prstGeom prst="rect">
            <a:avLst/>
          </a:prstGeom>
        </p:spPr>
      </p:pic>
      <p:sp>
        <p:nvSpPr>
          <p:cNvPr id="8" name="a1_0_h"/>
          <p:cNvSpPr txBox="1"/>
          <p:nvPr/>
        </p:nvSpPr>
        <p:spPr>
          <a:xfrm>
            <a:off x="777240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PARAR.</a:t>
            </a:r>
            <a:endParaRPr lang="en-US" sz="2600" dirty="0"/>
          </a:p>
        </p:txBody>
      </p:sp>
      <p:sp>
        <p:nvSpPr>
          <p:cNvPr id="9" name="a1_0_d"/>
          <p:cNvSpPr txBox="1"/>
          <p:nvPr/>
        </p:nvSpPr>
        <p:spPr>
          <a:xfrm>
            <a:off x="777240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Interromper o dano imediatamente.</a:t>
            </a:r>
            <a:endParaRPr lang="en-US" sz="1400" dirty="0"/>
          </a:p>
        </p:txBody>
      </p:sp>
      <p:sp>
        <p:nvSpPr>
          <p:cNvPr id="10" name="a1_1_bg"/>
          <p:cNvSpPr/>
          <p:nvPr/>
        </p:nvSpPr>
        <p:spPr>
          <a:xfrm>
            <a:off x="3390824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1_1c"/>
          <p:cNvSpPr/>
          <p:nvPr/>
        </p:nvSpPr>
        <p:spPr>
          <a:xfrm>
            <a:off x="3619424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a1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3480206"/>
            <a:ext cx="263347" cy="263347"/>
          </a:xfrm>
          <a:prstGeom prst="rect">
            <a:avLst/>
          </a:prstGeom>
        </p:spPr>
      </p:pic>
      <p:sp>
        <p:nvSpPr>
          <p:cNvPr id="13" name="a1_1_h"/>
          <p:cNvSpPr txBox="1"/>
          <p:nvPr/>
        </p:nvSpPr>
        <p:spPr>
          <a:xfrm>
            <a:off x="3619424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CONTAR.</a:t>
            </a:r>
            <a:endParaRPr lang="en-US" sz="2600" dirty="0"/>
          </a:p>
        </p:txBody>
      </p:sp>
      <p:sp>
        <p:nvSpPr>
          <p:cNvPr id="14" name="a1_1_d"/>
          <p:cNvSpPr txBox="1"/>
          <p:nvPr/>
        </p:nvSpPr>
        <p:spPr>
          <a:xfrm>
            <a:off x="3619424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Assumir o erro diante da comunidade e do governo.</a:t>
            </a:r>
            <a:endParaRPr lang="en-US" sz="1400" dirty="0"/>
          </a:p>
        </p:txBody>
      </p:sp>
      <p:sp>
        <p:nvSpPr>
          <p:cNvPr id="15" name="a1_2_bg"/>
          <p:cNvSpPr/>
          <p:nvPr/>
        </p:nvSpPr>
        <p:spPr>
          <a:xfrm>
            <a:off x="6233008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1_2c"/>
          <p:cNvSpPr/>
          <p:nvPr/>
        </p:nvSpPr>
        <p:spPr>
          <a:xfrm>
            <a:off x="6461608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1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3480206"/>
            <a:ext cx="263347" cy="263347"/>
          </a:xfrm>
          <a:prstGeom prst="rect">
            <a:avLst/>
          </a:prstGeom>
        </p:spPr>
      </p:pic>
      <p:sp>
        <p:nvSpPr>
          <p:cNvPr id="18" name="a1_2_h"/>
          <p:cNvSpPr txBox="1"/>
          <p:nvPr/>
        </p:nvSpPr>
        <p:spPr>
          <a:xfrm>
            <a:off x="6461608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REPARAR.</a:t>
            </a:r>
            <a:endParaRPr lang="en-US" sz="2600" dirty="0"/>
          </a:p>
        </p:txBody>
      </p:sp>
      <p:sp>
        <p:nvSpPr>
          <p:cNvPr id="19" name="a1_2_d"/>
          <p:cNvSpPr txBox="1"/>
          <p:nvPr/>
        </p:nvSpPr>
        <p:spPr>
          <a:xfrm>
            <a:off x="6461608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Indenizar, tratar e recuperar o ambiente.</a:t>
            </a:r>
            <a:endParaRPr lang="en-US" sz="1400" dirty="0"/>
          </a:p>
        </p:txBody>
      </p:sp>
      <p:sp>
        <p:nvSpPr>
          <p:cNvPr id="20" name="a1_3_bg"/>
          <p:cNvSpPr/>
          <p:nvPr/>
        </p:nvSpPr>
        <p:spPr>
          <a:xfrm>
            <a:off x="9075191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1_3c"/>
          <p:cNvSpPr/>
          <p:nvPr/>
        </p:nvSpPr>
        <p:spPr>
          <a:xfrm>
            <a:off x="9303791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1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3480206"/>
            <a:ext cx="263347" cy="263347"/>
          </a:xfrm>
          <a:prstGeom prst="rect">
            <a:avLst/>
          </a:prstGeom>
        </p:spPr>
      </p:pic>
      <p:sp>
        <p:nvSpPr>
          <p:cNvPr id="23" name="a1_3_h"/>
          <p:cNvSpPr txBox="1"/>
          <p:nvPr/>
        </p:nvSpPr>
        <p:spPr>
          <a:xfrm>
            <a:off x="9303791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MUDAR.</a:t>
            </a:r>
            <a:endParaRPr lang="en-US" sz="2600" dirty="0"/>
          </a:p>
        </p:txBody>
      </p:sp>
      <p:sp>
        <p:nvSpPr>
          <p:cNvPr id="24" name="a1_3_d"/>
          <p:cNvSpPr txBox="1"/>
          <p:nvPr/>
        </p:nvSpPr>
        <p:spPr>
          <a:xfrm>
            <a:off x="9303791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Rever processos e governança para não repetir.</a:t>
            </a:r>
            <a:endParaRPr lang="en-US" sz="1400" dirty="0"/>
          </a:p>
        </p:txBody>
      </p:sp>
      <p:sp>
        <p:nvSpPr>
          <p:cNvPr id="25" name="a2_0_f"/>
          <p:cNvSpPr txBox="1"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 fazer isso antes de ser obrigada: no filme, a verdade apareceu de qualquer jeito, só que muito mais cara.</a:t>
            </a:r>
            <a:endParaRPr lang="en-US" sz="1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CONSIDERAÇÕES FINAIS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EMPRESA SOCIALMENTE RESPONSÁVEL PRECISA…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4592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749808" y="18288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971446"/>
            <a:ext cx="263347" cy="263347"/>
          </a:xfrm>
          <a:prstGeom prst="rect">
            <a:avLst/>
          </a:prstGeom>
        </p:spPr>
      </p:pic>
      <p:sp>
        <p:nvSpPr>
          <p:cNvPr id="7" name="a0_0_t"/>
          <p:cNvSpPr txBox="1"/>
          <p:nvPr/>
        </p:nvSpPr>
        <p:spPr>
          <a:xfrm>
            <a:off x="1508760" y="16459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…tratar a comunidade como stakeholder, não como obstáculo;</a:t>
            </a:r>
            <a:endParaRPr lang="en-US" sz="1600" dirty="0"/>
          </a:p>
        </p:txBody>
      </p:sp>
      <p:sp>
        <p:nvSpPr>
          <p:cNvPr id="8" name="a0_1_bg"/>
          <p:cNvSpPr/>
          <p:nvPr/>
        </p:nvSpPr>
        <p:spPr>
          <a:xfrm>
            <a:off x="548640" y="274320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c"/>
          <p:cNvSpPr/>
          <p:nvPr/>
        </p:nvSpPr>
        <p:spPr>
          <a:xfrm>
            <a:off x="749808" y="2926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068726"/>
            <a:ext cx="263347" cy="263347"/>
          </a:xfrm>
          <a:prstGeom prst="rect">
            <a:avLst/>
          </a:prstGeom>
        </p:spPr>
      </p:pic>
      <p:sp>
        <p:nvSpPr>
          <p:cNvPr id="11" name="a0_1_t"/>
          <p:cNvSpPr txBox="1"/>
          <p:nvPr/>
        </p:nvSpPr>
        <p:spPr>
          <a:xfrm>
            <a:off x="1508760" y="27432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…contar a verdade antes que alguém precise descobri-la;</a:t>
            </a:r>
            <a:endParaRPr lang="en-US" sz="1600" dirty="0"/>
          </a:p>
        </p:txBody>
      </p:sp>
      <p:sp>
        <p:nvSpPr>
          <p:cNvPr id="12" name="a0_2_bg"/>
          <p:cNvSpPr/>
          <p:nvPr/>
        </p:nvSpPr>
        <p:spPr>
          <a:xfrm>
            <a:off x="548640" y="384048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2c"/>
          <p:cNvSpPr/>
          <p:nvPr/>
        </p:nvSpPr>
        <p:spPr>
          <a:xfrm>
            <a:off x="749808" y="4023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4166006"/>
            <a:ext cx="263347" cy="263347"/>
          </a:xfrm>
          <a:prstGeom prst="rect">
            <a:avLst/>
          </a:prstGeom>
        </p:spPr>
      </p:pic>
      <p:sp>
        <p:nvSpPr>
          <p:cNvPr id="15" name="a0_2_t"/>
          <p:cNvSpPr txBox="1"/>
          <p:nvPr/>
        </p:nvSpPr>
        <p:spPr>
          <a:xfrm>
            <a:off x="1508760" y="38404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…levar a responsabilidade socioambiental para as decisões do conselho, não só para o marketing;</a:t>
            </a:r>
            <a:endParaRPr lang="en-US" sz="1600" dirty="0"/>
          </a:p>
        </p:txBody>
      </p:sp>
      <p:sp>
        <p:nvSpPr>
          <p:cNvPr id="16" name="a0_3_bg"/>
          <p:cNvSpPr/>
          <p:nvPr/>
        </p:nvSpPr>
        <p:spPr>
          <a:xfrm>
            <a:off x="548640" y="493776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0_3c"/>
          <p:cNvSpPr/>
          <p:nvPr/>
        </p:nvSpPr>
        <p:spPr>
          <a:xfrm>
            <a:off x="749808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263286"/>
            <a:ext cx="263347" cy="263347"/>
          </a:xfrm>
          <a:prstGeom prst="rect">
            <a:avLst/>
          </a:prstGeom>
        </p:spPr>
      </p:pic>
      <p:sp>
        <p:nvSpPr>
          <p:cNvPr id="19" name="a0_3_t"/>
          <p:cNvSpPr txBox="1"/>
          <p:nvPr/>
        </p:nvSpPr>
        <p:spPr>
          <a:xfrm>
            <a:off x="1508760" y="49377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…medir, publicar e corrigir, porque ESG se prova com indicadores.</a:t>
            </a:r>
            <a:endParaRPr lang="en-US" sz="1600" dirty="0"/>
          </a:p>
        </p:txBody>
      </p:sp>
      <p:sp>
        <p:nvSpPr>
          <p:cNvPr id="20" name="a1_0_bg"/>
          <p:cNvSpPr/>
          <p:nvPr/>
        </p:nvSpPr>
        <p:spPr>
          <a:xfrm>
            <a:off x="7406640" y="1645920"/>
            <a:ext cx="4236415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1_1_qm"/>
          <p:cNvSpPr txBox="1"/>
          <p:nvPr/>
        </p:nvSpPr>
        <p:spPr>
          <a:xfrm>
            <a:off x="76809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“</a:t>
            </a:r>
            <a:endParaRPr lang="en-US" sz="8000" dirty="0"/>
          </a:p>
        </p:txBody>
      </p:sp>
      <p:sp>
        <p:nvSpPr>
          <p:cNvPr id="22" name="a1_2_q"/>
          <p:cNvSpPr txBox="1"/>
          <p:nvPr/>
        </p:nvSpPr>
        <p:spPr>
          <a:xfrm>
            <a:off x="7680960" y="2560320"/>
            <a:ext cx="3687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Responsabilidade vira prática quando está na governança e nos indicadores, e não só na propaganda.</a:t>
            </a:r>
            <a:endParaRPr lang="en-US" sz="2200" dirty="0"/>
          </a:p>
        </p:txBody>
      </p:sp>
      <p:sp>
        <p:nvSpPr>
          <p:cNvPr id="23" name="a1_3_s"/>
          <p:cNvSpPr txBox="1"/>
          <p:nvPr/>
        </p:nvSpPr>
        <p:spPr>
          <a:xfrm>
            <a:off x="76809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GRUPO 3 · CONCLUSÃO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Hinkley ao entardec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a0_1_k"/>
          <p:cNvSpPr txBox="1"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GRUPO 3 · ERIN BROCKOVICH</a:t>
            </a:r>
            <a:endParaRPr lang="en-US" sz="1200" dirty="0"/>
          </a:p>
        </p:txBody>
      </p:sp>
      <p:sp>
        <p:nvSpPr>
          <p:cNvPr id="5" name="a0_2_t"/>
          <p:cNvSpPr txBox="1"/>
          <p:nvPr/>
        </p:nvSpPr>
        <p:spPr>
          <a:xfrm>
            <a:off x="548640" y="1280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600" dirty="0"/>
          </a:p>
        </p:txBody>
      </p:sp>
      <p:sp>
        <p:nvSpPr>
          <p:cNvPr id="6" name="a0_3_bg"/>
          <p:cNvSpPr/>
          <p:nvPr/>
        </p:nvSpPr>
        <p:spPr>
          <a:xfrm>
            <a:off x="548640" y="2926080"/>
            <a:ext cx="749808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0_4_q"/>
          <p:cNvSpPr txBox="1"/>
          <p:nvPr/>
        </p:nvSpPr>
        <p:spPr>
          <a:xfrm>
            <a:off x="868680" y="29260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PARA O DEBATE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Vocês comprariam de uma empresa que escondeu um problema assim, se o preço dela fosse mais baixo?</a:t>
            </a:r>
            <a:endParaRPr lang="en-US" sz="1100" dirty="0"/>
          </a:p>
        </p:txBody>
      </p:sp>
      <p:sp>
        <p:nvSpPr>
          <p:cNvPr id="8" name="a0_5_n"/>
          <p:cNvSpPr txBox="1"/>
          <p:nvPr/>
        </p:nvSpPr>
        <p:spPr>
          <a:xfrm>
            <a:off x="548640" y="5577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Ian Cavalcante · Ana Beatriz · Matheus Beserra · Theo Arslanian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Profa. Sandra Joyce Souza · Fatec Ipiranga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G em Cena">
  <a:themeElements>
    <a:clrScheme name="ESG em Cena">
      <a:dk1>
        <a:srgbClr val="14202E"/>
      </a:dk1>
      <a:lt1>
        <a:srgbClr val="FFFFFF"/>
      </a:lt1>
      <a:dk2>
        <a:srgbClr val="1E2E40"/>
      </a:dk2>
      <a:lt2>
        <a:srgbClr val="F4F0E8"/>
      </a:lt2>
      <a:accent1>
        <a:srgbClr val="E8A23A"/>
      </a:accent1>
      <a:accent2>
        <a:srgbClr val="B5472C"/>
      </a:accent2>
      <a:accent3>
        <a:srgbClr val="2B3F56"/>
      </a:accent3>
      <a:accent4>
        <a:srgbClr val="F2C46D"/>
      </a:accent4>
      <a:accent5>
        <a:srgbClr val="6E9DB8"/>
      </a:accent5>
      <a:accent6>
        <a:srgbClr val="8A94A3"/>
      </a:accent6>
      <a:hlink>
        <a:srgbClr val="E8A23A"/>
      </a:hlink>
      <a:folHlink>
        <a:srgbClr val="B5472C"/>
      </a:folHlink>
    </a:clrScheme>
    <a:fontScheme name="ESG em Cen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em Cena · Erin Brockovich</dc:title>
  <dc:subject>PptxGenJS Presentation</dc:subject>
  <dc:creator>Grupo 3: Ian Cavalcante, Ana Beatriz, Matheus Beserra e Theo Arslanian</dc:creator>
  <cp:lastModifiedBy>Grupo 3: Ian Cavalcante, Ana Beatriz, Matheus Beserra e Theo Arslanian</cp:lastModifiedBy>
  <cp:revision>1</cp:revision>
  <dcterms:created xsi:type="dcterms:W3CDTF">2026-10-27T16:46:28Z</dcterms:created>
  <dcterms:modified xsi:type="dcterms:W3CDTF">2026-10-27T16:46:28Z</dcterms:modified>
</cp:coreProperties>
</file>