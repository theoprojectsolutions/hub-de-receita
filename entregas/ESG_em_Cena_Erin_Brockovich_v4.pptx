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4"/>
    <p:sldId id="259" r:id="rId5"/>
    <p:sldId id="257" r:id="rId3"/>
    <p:sldId id="261" r:id="rId7"/>
    <p:sldId id="262" r:id="rId8"/>
    <p:sldId id="263" r:id="rId9"/>
    <p:sldId id="264" r:id="rId10"/>
    <p:sldId id="265" r:id="rId11"/>
    <p:sldId id="268" r:id="rId14"/>
    <p:sldId id="270" r:id="rId16"/>
    <p:sldId id="274" r:id="rId20"/>
    <p:sldId id="271" r:id="rId17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apa" id="{7a1c2b3d-0000-4e11-9a02-000000000000}">
          <p14:sldIdLst>
            <p14:sldId id="256"/>
          </p14:sldIdLst>
        </p14:section>
        <p14:section name="Identificação" id="{7a1c2b3d-0000-4e11-9a02-000000000001}">
          <p14:sldIdLst>
            <p14:sldId id="258"/>
            <p14:sldId id="259"/>
          </p14:sldIdLst>
        </p14:section>
        <p14:section name="O problema central" id="{7a1c2b3d-0000-4e11-9a02-000000000002}">
          <p14:sldIdLst>
            <p14:sldId id="257"/>
            <p14:sldId id="261"/>
          </p14:sldIdLst>
        </p14:section>
        <p14:section name="Stakeholders" id="{7a1c2b3d-0000-4e11-9a02-000000000003}">
          <p14:sldIdLst>
            <p14:sldId id="262"/>
            <p14:sldId id="263"/>
          </p14:sldIdLst>
        </p14:section>
        <p14:section name="O papel da empresa" id="{7a1c2b3d-0000-4e11-9a02-000000000004}">
          <p14:sldIdLst>
            <p14:sldId id="264"/>
            <p14:sldId id="265"/>
          </p14:sldIdLst>
        </p14:section>
        <p14:section name="Impacto na Gestão Comercial" id="{7a1c2b3d-0000-4e11-9a02-000000000005}">
          <p14:sldIdLst>
            <p14:sldId id="268"/>
            <p14:sldId id="270"/>
          </p14:sldIdLst>
        </p14:section>
        <p14:section name="Pergunta provocadora" id="{7a1c2b3d-0000-4e11-9a02-000000000006}">
          <p14:sldIdLst>
            <p14:sldId id="274"/>
            <p14:sldId id="271"/>
          </p14:sldIdLst>
        </p14:section>
        <p14:section name="Encerramento" id="{7a1c2b3d-0000-4e11-9a02-000000000007}">
          <p14:sldIdLst>
            <p14:sldId id="275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4" Type="http://schemas.openxmlformats.org/officeDocument/2006/relationships/slide" Target="slides/slide13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IAN (≈30 s). Boa noite! Somos o Grupo 3: Ian, Ana Beatriz, Matheus e Theo. Nosso filme é Erin Brockovich – Uma Mulher de Talento. A proposta da professora é que o filme seja o caso e nós sejamos os consultores. Então hoje não vamos resumir o filme: vamos diagnosticar o problema da empresa, analisar sob a ótica ESG e propor um plano de intervenção. E vamos precisar da participação de vocês em alguns momentos.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IAN (≈1 min). Pergunte à turma: “Quem aqui beberia a água da torneira se a empresa da cidade garantisse que está tudo bem?” Peça para levantarem a mão e comente o resultado. Depois CLIQUE para revelar: “Ela não era.” e o dado sobre o cromo hexavalente: não dá para perceber pelo gosto, e ele é classificado como cancerígeno pela agência de câncer da OMS. Explique que essa é a história real de Hinkley, na Califórnia, e que a pergunta central do nosso seminário é sobre confiança: o que uma empresa faz quando descobre que a própria operação está prejudicando quem vive ao lado dela.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IAN (≈1 min). Identificação, primeiro item do roteiro: filme Erin Brockovich – Uma Mulher de Talento (2000), dirigido por Steven Soderbergh e baseado em um caso real; Julia Roberts ganhou o Oscar de Melhor Atriz. Grupo 3: Ian, Ana Beatriz, Matheus e Theo. Disciplina Responsabilidade Socioambiental, curso de Gestão Comercial da Fatec Ipiranga, com a Profa. Sandra Joyce Souza. Contexto em uma frase: uma mulher sem formação jurídica descobre que uma grande companhia de energia contaminou a água de uma cidade inteira e escondeu isso dos moradores.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IAN (≈45 s). Explique o papel do grupo: imaginamos que a companhia de energia do filme nos contratou como consultoria de responsabilidade socioambiental. Mostre que seguimos o roteiro da professora: problema central, stakeholders, papel da empresa (com a análise ESG), impacto na gestão comercial, pergunta provocadora e, por fim, a nossa proposta de intervenção. Isso também serve de sumário da apresentação.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IAN (≈1min30). Use o desenho: 1) a estação descartava a água com cromo em lagoas sem revestimento; 2) o cromo infiltrou no solo e chegou ao lençol freático; 3) a mancha avançou até os poços de onde as famílias tiravam água. Mas o problema central não é só a contaminação: é a decisão de esconder. A comunidade não foi informada de forma clara e o problema cresceu. O resultado: em 1996 a empresa pagou US$ 333 milhões em acordo para mais de 600 moradores. Passe a palavra para a Ana Beatriz, que vai mostrar os impactos e os stakeholders.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 BEATRIZ (≈1min15). Agora identificamos os impactos. Quatro dimensões: ambiental (o lençol freático e a mancha de cromo que se espalhou), saúde (doenças relatadas pelos moradores), social (medo, desvalorização das casas, comunidade desconfiada) e econômico/reputacional (indenizações, processos e uma marca associada ao escândalo até hoje). Destaque: o impacto saiu da empresa e virou problema de toda a cidade, e a confiança perdida não volta com um cheque.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 BEATRIZ (≈1min15). Mapeamos oito grupos de stakeholders. O mais afetado é a comunidade de Hinkley, que exige água limpa, verdade e reparação. Mas o problema também atinge funcionários, governo e órgãos ambientais, investidores, clientes, fornecedores, imprensa e Justiça. Ponto-chave: quando a empresa ignora um stakeholder, ele encontra outra forma de ser ouvido. No filme, foi pela Justiça.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 BEATRIZ (≈1min45). Agora a análise sob a ótica ESG. E (ambiental): descarte de substância tóxica sem controle e demora para conter a contaminação. S (social): a saúde da comunidade foi colocada em risco e a informação foi negada; no filme, a empresa oferece comprar casas para encerrar o assunto, sem reparar o dano. G (governança): o ponto mais grave. Documentos internos mostram que a direção sabia, e nenhum mecanismo interno impediu a decisão de esconder. CLIQUE para o insight: a falha de governança causou as falhas ambiental e social.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 BEATRIZ (≈1min15). Resposta do roteiro: qual é a responsabilidade da organização? Responder pelo dano, mesmo sem intenção, e agir antes de ser obrigada. Isso se traduz em quatro deveres: informar, reparar, prevenir e prestar contas. Conecte com o Brasil: aqui a responsabilidade ambiental é objetiva, ou seja, a empresa responde pelo dano independentemente de culpa (Lei 6.938/81); há a Lei de Crimes Ambientais; e o Código de Defesa do Consumidor obriga a avisar consumidores e autoridades quando um risco é descoberto. Passe para o Matheus, que vai mostrar o impacto na gestão comercial.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MATHEUS (≈1 min). O impacto comercial começa pelo caixa: vamos colocar números na conta. Só em acordos judiciais foram US$ 333 milhões em 1996 e mais US$ 295 milhões em 2006, em casos ligados a outras unidades: mais de US$ 600 milhões. CLIQUE para os custos que não aparecem no acordo: décadas de limpeza do lençol freático, uma cidade que se esvaziou e uma marca que ficou eternizada no cinema como vilã. Esse é o preço do silêncio.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MATHEUS (≈1min30). Aqui está a ligação com o nosso curso. Um problema ambiental vira problema comercial: clientes perdem a confiança, grandes contratos e licitações passam a exigir critérios ESG, o produto é associado a risco, a marca vira sinônimo de escândalo, a comunicação perde credibilidade (greenwashing), fornecedores se afastam, o relacionamento com a comunidade se rompe e a reputação, que é o ativo mais difícil de reconstruir, despenca. Passe para o Theo, que traz a pergunta provocadora e a nossa proposta de intervenção.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THEO (≈1min15). Detalhando a resposta: como consultores, propomos cinco ações concretas, na ordem em que precisam acontecer: 1) conter: parar a fonte e garantir água segura; 2) comunicar: contar a verdade à comunidade e às autoridades; 3) reparar: fundo de reparação, saúde e recuperação ambiental; 4) governar: comitê ESG, auditoria externa e canal de denúncia, para que a decisão de esconder nunca mais seja possível; 5) prevenir: trocar o insumo, monitorar e certificar a gestão ambiental. Mostre que isso cobre todos os itens do desafio do Grupo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THEO (≈1min30). Leia a pergunta provocadora do nosso desafio e devolva para a turma: “O que vocês fariam?”. Ouça uma ou duas respostas. Depois CLIQUE para revelar nossa resposta em quatro verbos: parar, contar, reparar e mudar. CLIQUE de novo para a frase final: o mais importante é agir antes de ser obrigada, porque, como o filme mostra, a verdade aparece de qualquer jeito, e esconder só aumenta o custo. Em seguida, mostre que a nossa proposta de intervenção detalha esses quatro verbos.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THEO (≈45 s). Complete a frase da professora em voz alta: depois de analisar o filme, percebemos que uma empresa socialmente responsável precisa tratar a comunidade como stakeholder, contar a verdade antes que alguém precise descobri-la, levar a responsabilidade socioambiental para as decisões do conselho e medir, publicar e corrigir. CLIQUE para a frase final: responsabilidade vira prática quando está na governança e nos indicadores, e não só na propaganda.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TODOS (≈30 s + debate). Agradeçam e lancem a pergunta para o debate: “Vocês comprariam de uma empresa que escondeu um problema assim, se o preço fosse mais baixo?”. Ela conecta o tema com o comportamento do consumidor e com a Gestão Comercial. Abram para perguntas da professora e da turma.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ESG em Cena · Erin Brockovich · Grupo 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ESG em Cena · Erin Brockovich · Grupo 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_AMBER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slideLayout" Target="../slideLayouts/slideLayout3.xml"/><Relationship Id="rId14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0_0_img" descr="Ilustração de Hinkley ao entardecer: estação de compressão de gás, caixa-d'água e casas no deserto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20640" y="0"/>
            <a:ext cx="7071055" cy="6858000"/>
          </a:xfrm>
          <a:prstGeom prst="rect">
            <a:avLst/>
          </a:prstGeom>
        </p:spPr>
      </p:pic>
      <p:sp>
        <p:nvSpPr>
          <p:cNvPr id="3" name="a0_1_k"/>
          <p:cNvSpPr txBox="1"/>
          <p:nvPr/>
        </p:nvSpPr>
        <p:spPr>
          <a:xfrm>
            <a:off x="548640" y="5486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SEMINÁRIO ESG EM CENA · RESPONSABILIDADE SOCIOAMBIENTAL ALÉM DO DISCURSO</a:t>
            </a:r>
            <a:endParaRPr lang="en-US" sz="1100" dirty="0"/>
          </a:p>
        </p:txBody>
      </p:sp>
      <p:sp>
        <p:nvSpPr>
          <p:cNvPr id="4" name="a0_2_t"/>
          <p:cNvSpPr txBox="1"/>
          <p:nvPr/>
        </p:nvSpPr>
        <p:spPr>
          <a:xfrm>
            <a:off x="548640" y="1463040"/>
            <a:ext cx="4389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ERIN</a:t>
            </a:r>
            <a:endParaRPr lang="en-US" sz="5000" dirty="0"/>
          </a:p>
          <a:p>
            <a:pPr indent="0" marL="0">
              <a:buNone/>
            </a:pPr>
            <a:r>
              <a:rPr lang="en-US" sz="5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BROCKOVICH</a:t>
            </a:r>
            <a:endParaRPr lang="en-US" sz="5000" dirty="0"/>
          </a:p>
        </p:txBody>
      </p:sp>
      <p:sp>
        <p:nvSpPr>
          <p:cNvPr id="5" name="a0_3_q"/>
          <p:cNvSpPr txBox="1"/>
          <p:nvPr/>
        </p:nvSpPr>
        <p:spPr>
          <a:xfrm>
            <a:off x="548640" y="338328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4"/>
                </a:solidFill>
              </a:rPr>
              <a:t>O que uma empresa deve fazer quando a sua operação adoece uma comunidade?</a:t>
            </a:r>
            <a:endParaRPr lang="en-US" sz="1800" dirty="0"/>
          </a:p>
        </p:txBody>
      </p:sp>
      <p:sp>
        <p:nvSpPr>
          <p:cNvPr id="6" name="a0_4_g"/>
          <p:cNvSpPr txBox="1"/>
          <p:nvPr/>
        </p:nvSpPr>
        <p:spPr>
          <a:xfrm>
            <a:off x="548640" y="457200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GRUPO 3</a:t>
            </a:r>
            <a:endParaRPr lang="en-US" sz="12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Ian Cavalcante · Ana Beatriz</a:t>
            </a:r>
            <a:endParaRPr lang="en-US" sz="12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Matheus Beserra · Theo Arslanian</a:t>
            </a:r>
            <a:endParaRPr lang="en-US" sz="1200" dirty="0"/>
          </a:p>
        </p:txBody>
      </p:sp>
      <p:sp>
        <p:nvSpPr>
          <p:cNvPr id="7" name="a0_5_c"/>
          <p:cNvSpPr txBox="1"/>
          <p:nvPr/>
        </p:nvSpPr>
        <p:spPr>
          <a:xfrm>
            <a:off x="548640" y="57607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Responsabilidade Socioambiental · Gestão Comercial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Fatec Ipiranga · Profa. Sandra Joyce Souza · 29.10.2026</a:t>
            </a:r>
            <a:endParaRPr lang="en-US" sz="11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0_0_img" descr="Ilustração de uma torneira pingando uma gota âmbar num copo d'água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98080" y="0"/>
            <a:ext cx="469361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9144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1"/>
                </a:solidFill>
              </a:rPr>
              <a:t>O PROBLEMA CENTRAL · LEVANTEM A MÃO</a:t>
            </a:r>
            <a:endParaRPr lang="en-US" sz="1200" dirty="0"/>
          </a:p>
        </p:txBody>
      </p:sp>
      <p:sp>
        <p:nvSpPr>
          <p:cNvPr id="4" name="a0_1_t"/>
          <p:cNvSpPr txBox="1"/>
          <p:nvPr/>
        </p:nvSpPr>
        <p:spPr>
          <a:xfrm>
            <a:off x="548640" y="128016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BEBERIA ESTA ÁGUA?</a:t>
            </a:r>
            <a:endParaRPr lang="en-US" sz="4800" dirty="0"/>
          </a:p>
        </p:txBody>
      </p:sp>
      <p:sp>
        <p:nvSpPr>
          <p:cNvPr id="5" name="a0_2_b"/>
          <p:cNvSpPr txBox="1"/>
          <p:nvPr/>
        </p:nvSpPr>
        <p:spPr>
          <a:xfrm>
            <a:off x="548640" y="292608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Numa pequena cidade do deserto da Califórnia, centenas de famílias ouviram da empresa vizinha que a água da torneira era segura.</a:t>
            </a:r>
            <a:endParaRPr lang="en-US" sz="2000" dirty="0"/>
          </a:p>
        </p:txBody>
      </p:sp>
      <p:sp>
        <p:nvSpPr>
          <p:cNvPr id="6" name="a1_0_r"/>
          <p:cNvSpPr txBox="1"/>
          <p:nvPr/>
        </p:nvSpPr>
        <p:spPr>
          <a:xfrm>
            <a:off x="548640" y="41605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 não era.</a:t>
            </a:r>
            <a:endParaRPr lang="en-US" sz="4000" dirty="0"/>
          </a:p>
        </p:txBody>
      </p:sp>
      <p:sp>
        <p:nvSpPr>
          <p:cNvPr id="7" name="a1_1_bg"/>
          <p:cNvSpPr/>
          <p:nvPr/>
        </p:nvSpPr>
        <p:spPr>
          <a:xfrm>
            <a:off x="548640" y="5074920"/>
            <a:ext cx="6400800" cy="1051560"/>
          </a:xfrm>
          <a:prstGeom prst="roundRect">
            <a:avLst>
              <a:gd name="adj" fmla="val 10435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" name="a1_2_t"/>
          <p:cNvSpPr txBox="1"/>
          <p:nvPr/>
        </p:nvSpPr>
        <p:spPr>
          <a:xfrm>
            <a:off x="777240" y="5074920"/>
            <a:ext cx="5943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VOCÊ SABIA?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O cromo hexavalente é invisível ao paladar em baixas concentrações e é classificado como cancerígeno para humanos (Grupo 1 da IARC/OMS).</a:t>
            </a:r>
            <a:endParaRPr lang="en-US" sz="11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IDENTIFICAÇÃO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FILME, GRUPO E DISCIPLINA</a:t>
            </a:r>
            <a:endParaRPr lang="en-US" sz="2800" dirty="0"/>
          </a:p>
        </p:txBody>
      </p:sp>
      <p:pic>
        <p:nvPicPr>
          <p:cNvPr id="4" name="a0_0_img" descr="Ilustração de claquete de cinema com o título Erin Brockovi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4343400" cy="4343400"/>
          </a:xfrm>
          <a:prstGeom prst="rect">
            <a:avLst/>
          </a:prstGeom>
        </p:spPr>
      </p:pic>
      <p:sp>
        <p:nvSpPr>
          <p:cNvPr id="5" name="a0_1_f"/>
          <p:cNvSpPr txBox="1"/>
          <p:nvPr/>
        </p:nvSpPr>
        <p:spPr>
          <a:xfrm>
            <a:off x="5257800" y="1600200"/>
            <a:ext cx="62938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6"/>
                </a:solidFill>
              </a:rPr>
              <a:t>NOME DO FILME</a:t>
            </a:r>
            <a:endParaRPr lang="en-US" sz="10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Erin Brockovich – Uma Mulher de Talento (2000)</a:t>
            </a:r>
            <a:endParaRPr lang="en-US" sz="1000" dirty="0"/>
          </a:p>
        </p:txBody>
      </p:sp>
      <p:sp>
        <p:nvSpPr>
          <p:cNvPr id="6" name="a0_2_f"/>
          <p:cNvSpPr txBox="1"/>
          <p:nvPr/>
        </p:nvSpPr>
        <p:spPr>
          <a:xfrm>
            <a:off x="5257800" y="2167128"/>
            <a:ext cx="31011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6"/>
                </a:solidFill>
              </a:rPr>
              <a:t>INTEGRANTES · GRUPO 3</a:t>
            </a:r>
            <a:endParaRPr lang="en-US" sz="10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Ian, Ana Beatriz, Matheus e Theo</a:t>
            </a:r>
            <a:endParaRPr lang="en-US" sz="1000" dirty="0"/>
          </a:p>
        </p:txBody>
      </p:sp>
      <p:sp>
        <p:nvSpPr>
          <p:cNvPr id="7" name="a0_3_f"/>
          <p:cNvSpPr txBox="1"/>
          <p:nvPr/>
        </p:nvSpPr>
        <p:spPr>
          <a:xfrm>
            <a:off x="8450428" y="2167128"/>
            <a:ext cx="31011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6"/>
                </a:solidFill>
              </a:rPr>
              <a:t>DISCIPLINA</a:t>
            </a:r>
            <a:endParaRPr lang="en-US" sz="10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Responsabilidade Socioambiental</a:t>
            </a:r>
            <a:endParaRPr lang="en-US" sz="1000" dirty="0"/>
          </a:p>
        </p:txBody>
      </p:sp>
      <p:sp>
        <p:nvSpPr>
          <p:cNvPr id="8" name="a0_4_f"/>
          <p:cNvSpPr txBox="1"/>
          <p:nvPr/>
        </p:nvSpPr>
        <p:spPr>
          <a:xfrm>
            <a:off x="5257800" y="2734056"/>
            <a:ext cx="31011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6"/>
                </a:solidFill>
              </a:rPr>
              <a:t>CURSO</a:t>
            </a:r>
            <a:endParaRPr lang="en-US" sz="10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Gestão Comercial · Fatec Ipiranga</a:t>
            </a:r>
            <a:endParaRPr lang="en-US" sz="1000" dirty="0"/>
          </a:p>
        </p:txBody>
      </p:sp>
      <p:sp>
        <p:nvSpPr>
          <p:cNvPr id="9" name="a0_5_f"/>
          <p:cNvSpPr txBox="1"/>
          <p:nvPr/>
        </p:nvSpPr>
        <p:spPr>
          <a:xfrm>
            <a:off x="8450428" y="2734056"/>
            <a:ext cx="31011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6"/>
                </a:solidFill>
              </a:rPr>
              <a:t>PROFESSORA</a:t>
            </a:r>
            <a:endParaRPr lang="en-US" sz="10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Profa. Sandra Joyce Souza</a:t>
            </a:r>
            <a:endParaRPr lang="en-US" sz="1000" dirty="0"/>
          </a:p>
        </p:txBody>
      </p:sp>
      <p:sp>
        <p:nvSpPr>
          <p:cNvPr id="10" name="a0_6_cb"/>
          <p:cNvSpPr/>
          <p:nvPr/>
        </p:nvSpPr>
        <p:spPr>
          <a:xfrm>
            <a:off x="5257800" y="3383280"/>
            <a:ext cx="6385255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a0_7_ct"/>
          <p:cNvSpPr txBox="1"/>
          <p:nvPr/>
        </p:nvSpPr>
        <p:spPr>
          <a:xfrm>
            <a:off x="5486400" y="3474720"/>
            <a:ext cx="592805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CONTEXTO</a:t>
            </a:r>
            <a:endParaRPr lang="en-US" sz="10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Drama real de Steven Soderbergh (Oscar de Melhor Atriz para Julia Roberts). Hinkley, Califórnia, anos 1990: Erin, mãe de três filhos e sem formação jurídica, descobre que uma companhia de energia contaminou a água da cidade com cromo hexavalente, e sabia disso havia anos.</a:t>
            </a:r>
            <a:endParaRPr lang="en-US" sz="1000" dirty="0"/>
          </a:p>
        </p:txBody>
      </p:sp>
      <p:sp>
        <p:nvSpPr>
          <p:cNvPr id="12" name="a0_8_in_bg"/>
          <p:cNvSpPr/>
          <p:nvPr/>
        </p:nvSpPr>
        <p:spPr>
          <a:xfrm>
            <a:off x="5257800" y="5029200"/>
            <a:ext cx="6385255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a0_8_in_icc"/>
          <p:cNvSpPr/>
          <p:nvPr/>
        </p:nvSpPr>
        <p:spPr>
          <a:xfrm>
            <a:off x="5440680" y="52578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a0_8_in_ici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552" y="5376672"/>
            <a:ext cx="219456" cy="219456"/>
          </a:xfrm>
          <a:prstGeom prst="rect">
            <a:avLst/>
          </a:prstGeom>
        </p:spPr>
      </p:pic>
      <p:sp>
        <p:nvSpPr>
          <p:cNvPr id="15" name="a0_8_in_t"/>
          <p:cNvSpPr txBox="1"/>
          <p:nvPr/>
        </p:nvSpPr>
        <p:spPr>
          <a:xfrm>
            <a:off x="6035040" y="5029200"/>
            <a:ext cx="54251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INSIGHT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 filme deu rosto a um problema técnico e transformou um processo judicial em dano de reputação global.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184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206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206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20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20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ROTEIRO DA APRESENTAÇÃO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FILME É O CASO. NÓS SOMOS OS CONSULTORES.</a:t>
            </a:r>
            <a:endParaRPr lang="en-US" sz="2800" dirty="0"/>
          </a:p>
        </p:txBody>
      </p:sp>
      <p:sp>
        <p:nvSpPr>
          <p:cNvPr id="4" name="a0_0_sc"/>
          <p:cNvSpPr txBox="1"/>
          <p:nvPr/>
        </p:nvSpPr>
        <p:spPr>
          <a:xfrm>
            <a:off x="548640" y="16002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2"/>
                </a:solidFill>
              </a:rPr>
              <a:t>Cenário: uma companhia de energia nos contrata ao descobrir que um produto químico usado na sua operação chegou à água da comunidade vizinha. Nosso trabalho é diagnosticar o problema e propor a saída.</a:t>
            </a:r>
            <a:endParaRPr lang="en-US" sz="1700" dirty="0"/>
          </a:p>
        </p:txBody>
      </p:sp>
      <p:sp>
        <p:nvSpPr>
          <p:cNvPr id="5" name="a0_1_bg"/>
          <p:cNvSpPr/>
          <p:nvPr/>
        </p:nvSpPr>
        <p:spPr>
          <a:xfrm>
            <a:off x="548640" y="2743200"/>
            <a:ext cx="1572768" cy="2103120"/>
          </a:xfrm>
          <a:prstGeom prst="roundRect">
            <a:avLst>
              <a:gd name="adj" fmla="val 697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a0_1_n"/>
          <p:cNvSpPr txBox="1"/>
          <p:nvPr/>
        </p:nvSpPr>
        <p:spPr>
          <a:xfrm>
            <a:off x="731520" y="28803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01</a:t>
            </a:r>
            <a:endParaRPr lang="en-US" sz="2000" dirty="0"/>
          </a:p>
        </p:txBody>
      </p:sp>
      <p:sp>
        <p:nvSpPr>
          <p:cNvPr id="7" name="a0_1c"/>
          <p:cNvSpPr/>
          <p:nvPr/>
        </p:nvSpPr>
        <p:spPr>
          <a:xfrm>
            <a:off x="731520" y="333756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a0_1i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054" y="3492094"/>
            <a:ext cx="285293" cy="285293"/>
          </a:xfrm>
          <a:prstGeom prst="rect">
            <a:avLst/>
          </a:prstGeom>
        </p:spPr>
      </p:pic>
      <p:sp>
        <p:nvSpPr>
          <p:cNvPr id="9" name="a0_1_l"/>
          <p:cNvSpPr txBox="1"/>
          <p:nvPr/>
        </p:nvSpPr>
        <p:spPr>
          <a:xfrm>
            <a:off x="731520" y="4069080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PROBLEMA CENTRAL</a:t>
            </a:r>
            <a:endParaRPr lang="en-US" sz="1300" dirty="0"/>
          </a:p>
        </p:txBody>
      </p:sp>
      <p:pic>
        <p:nvPicPr>
          <p:cNvPr id="10" name="a0_1_a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4893" y="3657600"/>
            <a:ext cx="164592" cy="274320"/>
          </a:xfrm>
          <a:prstGeom prst="rect">
            <a:avLst/>
          </a:prstGeom>
        </p:spPr>
      </p:pic>
      <p:sp>
        <p:nvSpPr>
          <p:cNvPr id="11" name="a0_2_bg"/>
          <p:cNvSpPr/>
          <p:nvPr/>
        </p:nvSpPr>
        <p:spPr>
          <a:xfrm>
            <a:off x="2452969" y="2743200"/>
            <a:ext cx="1572768" cy="2103120"/>
          </a:xfrm>
          <a:prstGeom prst="roundRect">
            <a:avLst>
              <a:gd name="adj" fmla="val 697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a0_2_n"/>
          <p:cNvSpPr txBox="1"/>
          <p:nvPr/>
        </p:nvSpPr>
        <p:spPr>
          <a:xfrm>
            <a:off x="2635849" y="28803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02</a:t>
            </a:r>
            <a:endParaRPr lang="en-US" sz="2000" dirty="0"/>
          </a:p>
        </p:txBody>
      </p:sp>
      <p:sp>
        <p:nvSpPr>
          <p:cNvPr id="13" name="a0_2c"/>
          <p:cNvSpPr/>
          <p:nvPr/>
        </p:nvSpPr>
        <p:spPr>
          <a:xfrm>
            <a:off x="2635849" y="333756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a0_2i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0383" y="3492094"/>
            <a:ext cx="285293" cy="285293"/>
          </a:xfrm>
          <a:prstGeom prst="rect">
            <a:avLst/>
          </a:prstGeom>
        </p:spPr>
      </p:pic>
      <p:sp>
        <p:nvSpPr>
          <p:cNvPr id="15" name="a0_2_l"/>
          <p:cNvSpPr txBox="1"/>
          <p:nvPr/>
        </p:nvSpPr>
        <p:spPr>
          <a:xfrm>
            <a:off x="2635849" y="4069080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STAKEHOLDERS</a:t>
            </a:r>
            <a:endParaRPr lang="en-US" sz="1300" dirty="0"/>
          </a:p>
        </p:txBody>
      </p:sp>
      <p:pic>
        <p:nvPicPr>
          <p:cNvPr id="16" name="a0_2_ar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9222" y="3657600"/>
            <a:ext cx="164592" cy="274320"/>
          </a:xfrm>
          <a:prstGeom prst="rect">
            <a:avLst/>
          </a:prstGeom>
        </p:spPr>
      </p:pic>
      <p:sp>
        <p:nvSpPr>
          <p:cNvPr id="17" name="a0_3_bg"/>
          <p:cNvSpPr/>
          <p:nvPr/>
        </p:nvSpPr>
        <p:spPr>
          <a:xfrm>
            <a:off x="4357299" y="2743200"/>
            <a:ext cx="1572768" cy="2103120"/>
          </a:xfrm>
          <a:prstGeom prst="roundRect">
            <a:avLst>
              <a:gd name="adj" fmla="val 697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a0_3_n"/>
          <p:cNvSpPr txBox="1"/>
          <p:nvPr/>
        </p:nvSpPr>
        <p:spPr>
          <a:xfrm>
            <a:off x="4540179" y="28803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03</a:t>
            </a:r>
            <a:endParaRPr lang="en-US" sz="2000" dirty="0"/>
          </a:p>
        </p:txBody>
      </p:sp>
      <p:sp>
        <p:nvSpPr>
          <p:cNvPr id="19" name="a0_3c"/>
          <p:cNvSpPr/>
          <p:nvPr/>
        </p:nvSpPr>
        <p:spPr>
          <a:xfrm>
            <a:off x="4540179" y="333756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a0_3i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4712" y="3492094"/>
            <a:ext cx="285293" cy="285293"/>
          </a:xfrm>
          <a:prstGeom prst="rect">
            <a:avLst/>
          </a:prstGeom>
        </p:spPr>
      </p:pic>
      <p:sp>
        <p:nvSpPr>
          <p:cNvPr id="21" name="a0_3_l"/>
          <p:cNvSpPr txBox="1"/>
          <p:nvPr/>
        </p:nvSpPr>
        <p:spPr>
          <a:xfrm>
            <a:off x="4540179" y="4069080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PAPEL DA EMPRESA</a:t>
            </a:r>
            <a:endParaRPr lang="en-US" sz="1300" dirty="0"/>
          </a:p>
        </p:txBody>
      </p:sp>
      <p:pic>
        <p:nvPicPr>
          <p:cNvPr id="22" name="a0_3_ar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3552" y="3657600"/>
            <a:ext cx="164592" cy="274320"/>
          </a:xfrm>
          <a:prstGeom prst="rect">
            <a:avLst/>
          </a:prstGeom>
        </p:spPr>
      </p:pic>
      <p:sp>
        <p:nvSpPr>
          <p:cNvPr id="23" name="a0_4_bg"/>
          <p:cNvSpPr/>
          <p:nvPr/>
        </p:nvSpPr>
        <p:spPr>
          <a:xfrm>
            <a:off x="6261628" y="2743200"/>
            <a:ext cx="1572768" cy="2103120"/>
          </a:xfrm>
          <a:prstGeom prst="roundRect">
            <a:avLst>
              <a:gd name="adj" fmla="val 697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a0_4_n"/>
          <p:cNvSpPr txBox="1"/>
          <p:nvPr/>
        </p:nvSpPr>
        <p:spPr>
          <a:xfrm>
            <a:off x="6444508" y="28803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04</a:t>
            </a:r>
            <a:endParaRPr lang="en-US" sz="2000" dirty="0"/>
          </a:p>
        </p:txBody>
      </p:sp>
      <p:sp>
        <p:nvSpPr>
          <p:cNvPr id="25" name="a0_4c"/>
          <p:cNvSpPr/>
          <p:nvPr/>
        </p:nvSpPr>
        <p:spPr>
          <a:xfrm>
            <a:off x="6444508" y="333756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a0_4i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9042" y="3492094"/>
            <a:ext cx="285293" cy="285293"/>
          </a:xfrm>
          <a:prstGeom prst="rect">
            <a:avLst/>
          </a:prstGeom>
        </p:spPr>
      </p:pic>
      <p:sp>
        <p:nvSpPr>
          <p:cNvPr id="27" name="a0_4_l"/>
          <p:cNvSpPr txBox="1"/>
          <p:nvPr/>
        </p:nvSpPr>
        <p:spPr>
          <a:xfrm>
            <a:off x="6444508" y="4069080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GESTÃO COMERCIAL</a:t>
            </a:r>
            <a:endParaRPr lang="en-US" sz="1300" dirty="0"/>
          </a:p>
        </p:txBody>
      </p:sp>
      <p:pic>
        <p:nvPicPr>
          <p:cNvPr id="28" name="a0_4_ar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17881" y="3657600"/>
            <a:ext cx="164592" cy="274320"/>
          </a:xfrm>
          <a:prstGeom prst="rect">
            <a:avLst/>
          </a:prstGeom>
        </p:spPr>
      </p:pic>
      <p:sp>
        <p:nvSpPr>
          <p:cNvPr id="29" name="a0_5_bg"/>
          <p:cNvSpPr/>
          <p:nvPr/>
        </p:nvSpPr>
        <p:spPr>
          <a:xfrm>
            <a:off x="8165958" y="2743200"/>
            <a:ext cx="1572768" cy="2103120"/>
          </a:xfrm>
          <a:prstGeom prst="roundRect">
            <a:avLst>
              <a:gd name="adj" fmla="val 697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a0_5_n"/>
          <p:cNvSpPr txBox="1"/>
          <p:nvPr/>
        </p:nvSpPr>
        <p:spPr>
          <a:xfrm>
            <a:off x="8348838" y="28803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05</a:t>
            </a:r>
            <a:endParaRPr lang="en-US" sz="2000" dirty="0"/>
          </a:p>
        </p:txBody>
      </p:sp>
      <p:sp>
        <p:nvSpPr>
          <p:cNvPr id="31" name="a0_5c"/>
          <p:cNvSpPr/>
          <p:nvPr/>
        </p:nvSpPr>
        <p:spPr>
          <a:xfrm>
            <a:off x="8348838" y="333756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2" name="a0_5i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03371" y="3492094"/>
            <a:ext cx="285293" cy="285293"/>
          </a:xfrm>
          <a:prstGeom prst="rect">
            <a:avLst/>
          </a:prstGeom>
        </p:spPr>
      </p:pic>
      <p:sp>
        <p:nvSpPr>
          <p:cNvPr id="33" name="a0_5_l"/>
          <p:cNvSpPr txBox="1"/>
          <p:nvPr/>
        </p:nvSpPr>
        <p:spPr>
          <a:xfrm>
            <a:off x="8348838" y="4069080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PERGUNTA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PROVOCADORA</a:t>
            </a:r>
            <a:endParaRPr lang="en-US" sz="1300" dirty="0"/>
          </a:p>
        </p:txBody>
      </p:sp>
      <p:pic>
        <p:nvPicPr>
          <p:cNvPr id="34" name="a0_5_ar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22210" y="3657600"/>
            <a:ext cx="164592" cy="274320"/>
          </a:xfrm>
          <a:prstGeom prst="rect">
            <a:avLst/>
          </a:prstGeom>
        </p:spPr>
      </p:pic>
      <p:sp>
        <p:nvSpPr>
          <p:cNvPr id="35" name="a0_6_bg"/>
          <p:cNvSpPr/>
          <p:nvPr/>
        </p:nvSpPr>
        <p:spPr>
          <a:xfrm>
            <a:off x="10070287" y="2743200"/>
            <a:ext cx="1572768" cy="2103120"/>
          </a:xfrm>
          <a:prstGeom prst="roundRect">
            <a:avLst>
              <a:gd name="adj" fmla="val 697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6" name="a0_6_n"/>
          <p:cNvSpPr txBox="1"/>
          <p:nvPr/>
        </p:nvSpPr>
        <p:spPr>
          <a:xfrm>
            <a:off x="10253167" y="28803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06</a:t>
            </a:r>
            <a:endParaRPr lang="en-US" sz="2000" dirty="0"/>
          </a:p>
        </p:txBody>
      </p:sp>
      <p:sp>
        <p:nvSpPr>
          <p:cNvPr id="37" name="a0_6c"/>
          <p:cNvSpPr/>
          <p:nvPr/>
        </p:nvSpPr>
        <p:spPr>
          <a:xfrm>
            <a:off x="10253167" y="3337560"/>
            <a:ext cx="594360" cy="5943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38" name="a0_6i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07701" y="3492094"/>
            <a:ext cx="285293" cy="285293"/>
          </a:xfrm>
          <a:prstGeom prst="rect">
            <a:avLst/>
          </a:prstGeom>
        </p:spPr>
      </p:pic>
      <p:sp>
        <p:nvSpPr>
          <p:cNvPr id="39" name="a0_6_l"/>
          <p:cNvSpPr txBox="1"/>
          <p:nvPr/>
        </p:nvSpPr>
        <p:spPr>
          <a:xfrm>
            <a:off x="10253167" y="4069080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PROPOSTA</a:t>
            </a:r>
            <a:endParaRPr lang="en-US" sz="1300" dirty="0"/>
          </a:p>
        </p:txBody>
      </p:sp>
      <p:sp>
        <p:nvSpPr>
          <p:cNvPr id="40" name="a0_7_in_bg"/>
          <p:cNvSpPr/>
          <p:nvPr/>
        </p:nvSpPr>
        <p:spPr>
          <a:xfrm>
            <a:off x="548640" y="5257800"/>
            <a:ext cx="11094415" cy="822960"/>
          </a:xfrm>
          <a:prstGeom prst="roundRect">
            <a:avLst>
              <a:gd name="adj" fmla="val 1333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1" name="a0_7_in_icc"/>
          <p:cNvSpPr/>
          <p:nvPr/>
        </p:nvSpPr>
        <p:spPr>
          <a:xfrm>
            <a:off x="731520" y="54406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2" name="a0_7_in_ici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0392" y="5559552"/>
            <a:ext cx="219456" cy="219456"/>
          </a:xfrm>
          <a:prstGeom prst="rect">
            <a:avLst/>
          </a:prstGeom>
        </p:spPr>
      </p:pic>
      <p:sp>
        <p:nvSpPr>
          <p:cNvPr id="43" name="a0_7_in_t"/>
          <p:cNvSpPr txBox="1"/>
          <p:nvPr/>
        </p:nvSpPr>
        <p:spPr>
          <a:xfrm>
            <a:off x="1325880" y="5257800"/>
            <a:ext cx="10134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INSIGHT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Seguimos a lógica de uma consultoria: diagnóstico antes da solução, e toda proposta amarrada a um indicador.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184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184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184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184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O PROBLEMA CENTRAL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EMPRESA SABIA DO RISCO E ESCOLHEU O SILÊNCIO</a:t>
            </a:r>
            <a:endParaRPr lang="en-US" sz="2800" dirty="0"/>
          </a:p>
        </p:txBody>
      </p:sp>
      <p:pic>
        <p:nvPicPr>
          <p:cNvPr id="4" name="a0_0_img" descr="Corte do solo: lagoa sem revestimento, infiltração até o lençol freático e mancha de cromo chegando aos poços das cas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6035040" cy="3017520"/>
          </a:xfrm>
          <a:prstGeom prst="rect">
            <a:avLst/>
          </a:prstGeom>
        </p:spPr>
      </p:pic>
      <p:sp>
        <p:nvSpPr>
          <p:cNvPr id="5" name="a0_1_lc"/>
          <p:cNvSpPr/>
          <p:nvPr/>
        </p:nvSpPr>
        <p:spPr>
          <a:xfrm>
            <a:off x="548640" y="4773168"/>
            <a:ext cx="329184" cy="32918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a0_1_ln"/>
          <p:cNvSpPr txBox="1"/>
          <p:nvPr/>
        </p:nvSpPr>
        <p:spPr>
          <a:xfrm>
            <a:off x="548640" y="47731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a0_1_lt"/>
          <p:cNvSpPr txBox="1"/>
          <p:nvPr/>
        </p:nvSpPr>
        <p:spPr>
          <a:xfrm>
            <a:off x="960120" y="47091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Lagoas sem revestimento recebem a água com cromo</a:t>
            </a:r>
            <a:endParaRPr lang="en-US" sz="1200" dirty="0"/>
          </a:p>
        </p:txBody>
      </p:sp>
      <p:sp>
        <p:nvSpPr>
          <p:cNvPr id="8" name="a0_2_lc"/>
          <p:cNvSpPr/>
          <p:nvPr/>
        </p:nvSpPr>
        <p:spPr>
          <a:xfrm>
            <a:off x="2560320" y="4773168"/>
            <a:ext cx="329184" cy="32918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9" name="a0_2_ln"/>
          <p:cNvSpPr txBox="1"/>
          <p:nvPr/>
        </p:nvSpPr>
        <p:spPr>
          <a:xfrm>
            <a:off x="2560320" y="47731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a0_2_lt"/>
          <p:cNvSpPr txBox="1"/>
          <p:nvPr/>
        </p:nvSpPr>
        <p:spPr>
          <a:xfrm>
            <a:off x="2971800" y="47091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 cromo infiltra e chega ao lençol freático</a:t>
            </a:r>
            <a:endParaRPr lang="en-US" sz="1200" dirty="0"/>
          </a:p>
        </p:txBody>
      </p:sp>
      <p:sp>
        <p:nvSpPr>
          <p:cNvPr id="11" name="a0_3_lc"/>
          <p:cNvSpPr/>
          <p:nvPr/>
        </p:nvSpPr>
        <p:spPr>
          <a:xfrm>
            <a:off x="4572000" y="4773168"/>
            <a:ext cx="329184" cy="32918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a0_3_ln"/>
          <p:cNvSpPr txBox="1"/>
          <p:nvPr/>
        </p:nvSpPr>
        <p:spPr>
          <a:xfrm>
            <a:off x="4572000" y="47731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a0_3_lt"/>
          <p:cNvSpPr txBox="1"/>
          <p:nvPr/>
        </p:nvSpPr>
        <p:spPr>
          <a:xfrm>
            <a:off x="4983480" y="47091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 mancha avança até os poços das casas</a:t>
            </a:r>
            <a:endParaRPr lang="en-US" sz="1200" dirty="0"/>
          </a:p>
        </p:txBody>
      </p:sp>
      <p:sp>
        <p:nvSpPr>
          <p:cNvPr id="14" name="a0_4_bg"/>
          <p:cNvSpPr/>
          <p:nvPr/>
        </p:nvSpPr>
        <p:spPr>
          <a:xfrm>
            <a:off x="6949440" y="1600200"/>
            <a:ext cx="4693615" cy="1143000"/>
          </a:xfrm>
          <a:prstGeom prst="roundRect">
            <a:avLst>
              <a:gd name="adj" fmla="val 96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a0_4_v"/>
          <p:cNvSpPr txBox="1"/>
          <p:nvPr/>
        </p:nvSpPr>
        <p:spPr>
          <a:xfrm>
            <a:off x="7178040" y="160020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1952–1966</a:t>
            </a:r>
            <a:endParaRPr lang="en-US" sz="2400" dirty="0"/>
          </a:p>
        </p:txBody>
      </p:sp>
      <p:sp>
        <p:nvSpPr>
          <p:cNvPr id="16" name="a0_4_d"/>
          <p:cNvSpPr txBox="1"/>
          <p:nvPr/>
        </p:nvSpPr>
        <p:spPr>
          <a:xfrm>
            <a:off x="9235440" y="1600200"/>
            <a:ext cx="22247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Descarte de água com cromo em lagoas sem revestimento, ao lado da cidade.</a:t>
            </a:r>
            <a:endParaRPr lang="en-US" sz="1300" dirty="0"/>
          </a:p>
        </p:txBody>
      </p:sp>
      <p:sp>
        <p:nvSpPr>
          <p:cNvPr id="17" name="a0_5_bg"/>
          <p:cNvSpPr/>
          <p:nvPr/>
        </p:nvSpPr>
        <p:spPr>
          <a:xfrm>
            <a:off x="6949440" y="2880360"/>
            <a:ext cx="4693615" cy="1143000"/>
          </a:xfrm>
          <a:prstGeom prst="roundRect">
            <a:avLst>
              <a:gd name="adj" fmla="val 96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a0_5_v"/>
          <p:cNvSpPr txBox="1"/>
          <p:nvPr/>
        </p:nvSpPr>
        <p:spPr>
          <a:xfrm>
            <a:off x="7178040" y="2880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Silêncio</a:t>
            </a:r>
            <a:endParaRPr lang="en-US" sz="2400" dirty="0"/>
          </a:p>
        </p:txBody>
      </p:sp>
      <p:sp>
        <p:nvSpPr>
          <p:cNvPr id="19" name="a0_5_d"/>
          <p:cNvSpPr txBox="1"/>
          <p:nvPr/>
        </p:nvSpPr>
        <p:spPr>
          <a:xfrm>
            <a:off x="9235440" y="2880360"/>
            <a:ext cx="22247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Os moradores recebem informações incompletas e tranquilizadoras sobre a água.</a:t>
            </a:r>
            <a:endParaRPr lang="en-US" sz="1300" dirty="0"/>
          </a:p>
        </p:txBody>
      </p:sp>
      <p:sp>
        <p:nvSpPr>
          <p:cNvPr id="20" name="a0_6_bg"/>
          <p:cNvSpPr/>
          <p:nvPr/>
        </p:nvSpPr>
        <p:spPr>
          <a:xfrm>
            <a:off x="6949440" y="4160520"/>
            <a:ext cx="4693615" cy="1143000"/>
          </a:xfrm>
          <a:prstGeom prst="roundRect">
            <a:avLst>
              <a:gd name="adj" fmla="val 96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a0_6_v"/>
          <p:cNvSpPr txBox="1"/>
          <p:nvPr/>
        </p:nvSpPr>
        <p:spPr>
          <a:xfrm>
            <a:off x="7178040" y="416052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US$ 333 mi</a:t>
            </a:r>
            <a:endParaRPr lang="en-US" sz="2400" dirty="0"/>
          </a:p>
        </p:txBody>
      </p:sp>
      <p:sp>
        <p:nvSpPr>
          <p:cNvPr id="22" name="a0_6_d"/>
          <p:cNvSpPr txBox="1"/>
          <p:nvPr/>
        </p:nvSpPr>
        <p:spPr>
          <a:xfrm>
            <a:off x="9235440" y="4160520"/>
            <a:ext cx="22247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Acordo de 1996 com mais de 600 moradores, o maior do tipo nos EUA até então.</a:t>
            </a:r>
            <a:endParaRPr lang="en-US" sz="1300" dirty="0"/>
          </a:p>
        </p:txBody>
      </p:sp>
      <p:sp>
        <p:nvSpPr>
          <p:cNvPr id="23" name="a0_7_in_bg"/>
          <p:cNvSpPr/>
          <p:nvPr/>
        </p:nvSpPr>
        <p:spPr>
          <a:xfrm>
            <a:off x="548640" y="5532120"/>
            <a:ext cx="11094415" cy="6858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a0_7_in_icc"/>
          <p:cNvSpPr/>
          <p:nvPr/>
        </p:nvSpPr>
        <p:spPr>
          <a:xfrm>
            <a:off x="731520" y="56464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a0_7_in_ici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5765292"/>
            <a:ext cx="219456" cy="219456"/>
          </a:xfrm>
          <a:prstGeom prst="rect">
            <a:avLst/>
          </a:prstGeom>
        </p:spPr>
      </p:pic>
      <p:sp>
        <p:nvSpPr>
          <p:cNvPr id="26" name="a0_7_in_t"/>
          <p:cNvSpPr txBox="1"/>
          <p:nvPr/>
        </p:nvSpPr>
        <p:spPr>
          <a:xfrm>
            <a:off x="1325880" y="5532120"/>
            <a:ext cx="10134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INSIGHT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 problema central não é só a contaminação: é a decisão de esconder.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8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184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184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184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STAKEHOLDERS · IMPACTOS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DANO NÃO FICOU DENTRO DO MURO DA EMPRESA</a:t>
            </a:r>
            <a:endParaRPr lang="en-US" sz="2800" dirty="0"/>
          </a:p>
        </p:txBody>
      </p:sp>
      <p:sp>
        <p:nvSpPr>
          <p:cNvPr id="4" name="a0_0_bg"/>
          <p:cNvSpPr/>
          <p:nvPr/>
        </p:nvSpPr>
        <p:spPr>
          <a:xfrm>
            <a:off x="548640" y="1691640"/>
            <a:ext cx="2567864" cy="3520440"/>
          </a:xfrm>
          <a:prstGeom prst="roundRect">
            <a:avLst>
              <a:gd name="adj" fmla="val 427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a0_0c"/>
          <p:cNvSpPr/>
          <p:nvPr/>
        </p:nvSpPr>
        <p:spPr>
          <a:xfrm>
            <a:off x="822960" y="1965960"/>
            <a:ext cx="777240" cy="7772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6" name="a0_0i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042" y="2168042"/>
            <a:ext cx="373075" cy="373075"/>
          </a:xfrm>
          <a:prstGeom prst="rect">
            <a:avLst/>
          </a:prstGeom>
        </p:spPr>
      </p:pic>
      <p:sp>
        <p:nvSpPr>
          <p:cNvPr id="7" name="a0_0_h"/>
          <p:cNvSpPr txBox="1"/>
          <p:nvPr/>
        </p:nvSpPr>
        <p:spPr>
          <a:xfrm>
            <a:off x="822960" y="2926080"/>
            <a:ext cx="2110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AMBIENTAL</a:t>
            </a:r>
            <a:endParaRPr lang="en-US" sz="1400" dirty="0"/>
          </a:p>
        </p:txBody>
      </p:sp>
      <p:sp>
        <p:nvSpPr>
          <p:cNvPr id="8" name="a0_0_d"/>
          <p:cNvSpPr txBox="1"/>
          <p:nvPr/>
        </p:nvSpPr>
        <p:spPr>
          <a:xfrm>
            <a:off x="822960" y="3611880"/>
            <a:ext cx="21106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Lençol freático contaminado e uma mancha de cromo que avançou pelo subsolo por décadas.</a:t>
            </a:r>
            <a:endParaRPr lang="en-US" sz="1400" dirty="0"/>
          </a:p>
        </p:txBody>
      </p:sp>
      <p:sp>
        <p:nvSpPr>
          <p:cNvPr id="9" name="a0_1_bg"/>
          <p:cNvSpPr/>
          <p:nvPr/>
        </p:nvSpPr>
        <p:spPr>
          <a:xfrm>
            <a:off x="3390824" y="1691640"/>
            <a:ext cx="2567864" cy="3520440"/>
          </a:xfrm>
          <a:prstGeom prst="roundRect">
            <a:avLst>
              <a:gd name="adj" fmla="val 427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a0_1c"/>
          <p:cNvSpPr/>
          <p:nvPr/>
        </p:nvSpPr>
        <p:spPr>
          <a:xfrm>
            <a:off x="3665144" y="1965960"/>
            <a:ext cx="777240" cy="7772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a0_1i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7226" y="2168042"/>
            <a:ext cx="373075" cy="373075"/>
          </a:xfrm>
          <a:prstGeom prst="rect">
            <a:avLst/>
          </a:prstGeom>
        </p:spPr>
      </p:pic>
      <p:sp>
        <p:nvSpPr>
          <p:cNvPr id="12" name="a0_1_h"/>
          <p:cNvSpPr txBox="1"/>
          <p:nvPr/>
        </p:nvSpPr>
        <p:spPr>
          <a:xfrm>
            <a:off x="3665144" y="2926080"/>
            <a:ext cx="2110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SAÚDE</a:t>
            </a:r>
            <a:endParaRPr lang="en-US" sz="1400" dirty="0"/>
          </a:p>
        </p:txBody>
      </p:sp>
      <p:sp>
        <p:nvSpPr>
          <p:cNvPr id="13" name="a0_1_d"/>
          <p:cNvSpPr txBox="1"/>
          <p:nvPr/>
        </p:nvSpPr>
        <p:spPr>
          <a:xfrm>
            <a:off x="3665144" y="3611880"/>
            <a:ext cx="21106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Moradores relatam câncer, problemas respiratórios, abortos espontâneos e outras doenças.</a:t>
            </a:r>
            <a:endParaRPr lang="en-US" sz="1400" dirty="0"/>
          </a:p>
        </p:txBody>
      </p:sp>
      <p:sp>
        <p:nvSpPr>
          <p:cNvPr id="14" name="a0_2_bg"/>
          <p:cNvSpPr/>
          <p:nvPr/>
        </p:nvSpPr>
        <p:spPr>
          <a:xfrm>
            <a:off x="6233008" y="1691640"/>
            <a:ext cx="2567864" cy="3520440"/>
          </a:xfrm>
          <a:prstGeom prst="roundRect">
            <a:avLst>
              <a:gd name="adj" fmla="val 427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a0_2c"/>
          <p:cNvSpPr/>
          <p:nvPr/>
        </p:nvSpPr>
        <p:spPr>
          <a:xfrm>
            <a:off x="6507328" y="1965960"/>
            <a:ext cx="777240" cy="7772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6" name="a0_2i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9410" y="2168042"/>
            <a:ext cx="373075" cy="373075"/>
          </a:xfrm>
          <a:prstGeom prst="rect">
            <a:avLst/>
          </a:prstGeom>
        </p:spPr>
      </p:pic>
      <p:sp>
        <p:nvSpPr>
          <p:cNvPr id="17" name="a0_2_h"/>
          <p:cNvSpPr txBox="1"/>
          <p:nvPr/>
        </p:nvSpPr>
        <p:spPr>
          <a:xfrm>
            <a:off x="6507328" y="2926080"/>
            <a:ext cx="2110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SOCIAL</a:t>
            </a:r>
            <a:endParaRPr lang="en-US" sz="1400" dirty="0"/>
          </a:p>
        </p:txBody>
      </p:sp>
      <p:sp>
        <p:nvSpPr>
          <p:cNvPr id="18" name="a0_2_d"/>
          <p:cNvSpPr txBox="1"/>
          <p:nvPr/>
        </p:nvSpPr>
        <p:spPr>
          <a:xfrm>
            <a:off x="6507328" y="3611880"/>
            <a:ext cx="21106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Famílias com medo, imóveis desvalorizados e uma comunidade que não sabe mais em quem confiar.</a:t>
            </a:r>
            <a:endParaRPr lang="en-US" sz="1400" dirty="0"/>
          </a:p>
        </p:txBody>
      </p:sp>
      <p:sp>
        <p:nvSpPr>
          <p:cNvPr id="19" name="a0_3_bg"/>
          <p:cNvSpPr/>
          <p:nvPr/>
        </p:nvSpPr>
        <p:spPr>
          <a:xfrm>
            <a:off x="9075191" y="1691640"/>
            <a:ext cx="2567864" cy="3520440"/>
          </a:xfrm>
          <a:prstGeom prst="roundRect">
            <a:avLst>
              <a:gd name="adj" fmla="val 427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a0_3c"/>
          <p:cNvSpPr/>
          <p:nvPr/>
        </p:nvSpPr>
        <p:spPr>
          <a:xfrm>
            <a:off x="9349511" y="1965960"/>
            <a:ext cx="777240" cy="7772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21" name="a0_3i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1594" y="2168042"/>
            <a:ext cx="373075" cy="373075"/>
          </a:xfrm>
          <a:prstGeom prst="rect">
            <a:avLst/>
          </a:prstGeom>
        </p:spPr>
      </p:pic>
      <p:sp>
        <p:nvSpPr>
          <p:cNvPr id="22" name="a0_3_h"/>
          <p:cNvSpPr txBox="1"/>
          <p:nvPr/>
        </p:nvSpPr>
        <p:spPr>
          <a:xfrm>
            <a:off x="9349511" y="2926080"/>
            <a:ext cx="2110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ECONÔMICO E REPUTACIONAL</a:t>
            </a:r>
            <a:endParaRPr lang="en-US" sz="1400" dirty="0"/>
          </a:p>
        </p:txBody>
      </p:sp>
      <p:sp>
        <p:nvSpPr>
          <p:cNvPr id="23" name="a0_3_d"/>
          <p:cNvSpPr txBox="1"/>
          <p:nvPr/>
        </p:nvSpPr>
        <p:spPr>
          <a:xfrm>
            <a:off x="9349511" y="3611880"/>
            <a:ext cx="21106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Indenizações milionárias, anos de processos e uma marca ligada ao caso até hoje.</a:t>
            </a:r>
            <a:endParaRPr lang="en-US" sz="1400" dirty="0"/>
          </a:p>
        </p:txBody>
      </p:sp>
      <p:sp>
        <p:nvSpPr>
          <p:cNvPr id="24" name="a0_4_in_bg"/>
          <p:cNvSpPr/>
          <p:nvPr/>
        </p:nvSpPr>
        <p:spPr>
          <a:xfrm>
            <a:off x="548640" y="5440680"/>
            <a:ext cx="11094415" cy="73152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a0_4_in_icc"/>
          <p:cNvSpPr/>
          <p:nvPr/>
        </p:nvSpPr>
        <p:spPr>
          <a:xfrm>
            <a:off x="731520" y="55778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a0_4_in_ici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" y="5696712"/>
            <a:ext cx="219456" cy="219456"/>
          </a:xfrm>
          <a:prstGeom prst="rect">
            <a:avLst/>
          </a:prstGeom>
        </p:spPr>
      </p:pic>
      <p:sp>
        <p:nvSpPr>
          <p:cNvPr id="27" name="a0_4_in_t"/>
          <p:cNvSpPr txBox="1"/>
          <p:nvPr/>
        </p:nvSpPr>
        <p:spPr>
          <a:xfrm>
            <a:off x="1325880" y="5440680"/>
            <a:ext cx="10134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INSIGHT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 impacto mais caro não aparece no balanço: a perda de confiança de uma cidade inteira.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QUEM SÃO OS STAKEHOLDERS?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É AFETADO E O QUE CADA UM EXIGE</a:t>
            </a:r>
            <a:endParaRPr lang="en-US" sz="2800" dirty="0"/>
          </a:p>
        </p:txBody>
      </p:sp>
      <p:sp>
        <p:nvSpPr>
          <p:cNvPr id="4" name="a0_0_bg"/>
          <p:cNvSpPr/>
          <p:nvPr/>
        </p:nvSpPr>
        <p:spPr>
          <a:xfrm>
            <a:off x="548640" y="1600200"/>
            <a:ext cx="3291840" cy="3794760"/>
          </a:xfrm>
          <a:prstGeom prst="roundRect">
            <a:avLst>
              <a:gd name="adj" fmla="val 333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a0_0c"/>
          <p:cNvSpPr/>
          <p:nvPr/>
        </p:nvSpPr>
        <p:spPr>
          <a:xfrm>
            <a:off x="822960" y="187452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a0_0i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042" y="2076602"/>
            <a:ext cx="373075" cy="373075"/>
          </a:xfrm>
          <a:prstGeom prst="rect">
            <a:avLst/>
          </a:prstGeom>
        </p:spPr>
      </p:pic>
      <p:sp>
        <p:nvSpPr>
          <p:cNvPr id="7" name="a0_0_t"/>
          <p:cNvSpPr txBox="1"/>
          <p:nvPr/>
        </p:nvSpPr>
        <p:spPr>
          <a:xfrm>
            <a:off x="822960" y="283464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MAIS AFETADO</a:t>
            </a:r>
            <a:endParaRPr lang="en-US" sz="11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Comunidade de Hinkley</a:t>
            </a: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Água limpa, verdade, tratamento e reparação.</a:t>
            </a:r>
            <a:endParaRPr lang="en-US" sz="1100" dirty="0"/>
          </a:p>
        </p:txBody>
      </p:sp>
      <p:sp>
        <p:nvSpPr>
          <p:cNvPr id="8" name="a0_1_bg"/>
          <p:cNvSpPr/>
          <p:nvPr/>
        </p:nvSpPr>
        <p:spPr>
          <a:xfrm>
            <a:off x="4114800" y="1600200"/>
            <a:ext cx="1676324" cy="1783080"/>
          </a:xfrm>
          <a:prstGeom prst="roundRect">
            <a:avLst>
              <a:gd name="adj" fmla="val 654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a0_1c"/>
          <p:cNvSpPr/>
          <p:nvPr/>
        </p:nvSpPr>
        <p:spPr>
          <a:xfrm>
            <a:off x="4297680" y="1783080"/>
            <a:ext cx="457200" cy="45720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0" name="a0_1i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6552" y="1901952"/>
            <a:ext cx="219456" cy="219456"/>
          </a:xfrm>
          <a:prstGeom prst="rect">
            <a:avLst/>
          </a:prstGeom>
        </p:spPr>
      </p:pic>
      <p:sp>
        <p:nvSpPr>
          <p:cNvPr id="11" name="a0_1_h"/>
          <p:cNvSpPr txBox="1"/>
          <p:nvPr/>
        </p:nvSpPr>
        <p:spPr>
          <a:xfrm>
            <a:off x="4297680" y="2313432"/>
            <a:ext cx="13562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Funcionários</a:t>
            </a:r>
            <a:endParaRPr lang="en-US" sz="1300" dirty="0"/>
          </a:p>
        </p:txBody>
      </p:sp>
      <p:sp>
        <p:nvSpPr>
          <p:cNvPr id="12" name="a0_1_d"/>
          <p:cNvSpPr txBox="1"/>
          <p:nvPr/>
        </p:nvSpPr>
        <p:spPr>
          <a:xfrm>
            <a:off x="4297680" y="2770632"/>
            <a:ext cx="13562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Segurança no trabalho e orgulho da empresa.</a:t>
            </a:r>
            <a:endParaRPr lang="en-US" sz="1200" dirty="0"/>
          </a:p>
        </p:txBody>
      </p:sp>
      <p:sp>
        <p:nvSpPr>
          <p:cNvPr id="13" name="a0_2_bg"/>
          <p:cNvSpPr/>
          <p:nvPr/>
        </p:nvSpPr>
        <p:spPr>
          <a:xfrm>
            <a:off x="6065444" y="1600200"/>
            <a:ext cx="1676324" cy="1783080"/>
          </a:xfrm>
          <a:prstGeom prst="roundRect">
            <a:avLst>
              <a:gd name="adj" fmla="val 654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a0_2c"/>
          <p:cNvSpPr/>
          <p:nvPr/>
        </p:nvSpPr>
        <p:spPr>
          <a:xfrm>
            <a:off x="6248324" y="1783080"/>
            <a:ext cx="457200" cy="45720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5" name="a0_2i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7196" y="1901952"/>
            <a:ext cx="219456" cy="219456"/>
          </a:xfrm>
          <a:prstGeom prst="rect">
            <a:avLst/>
          </a:prstGeom>
        </p:spPr>
      </p:pic>
      <p:sp>
        <p:nvSpPr>
          <p:cNvPr id="16" name="a0_2_h"/>
          <p:cNvSpPr txBox="1"/>
          <p:nvPr/>
        </p:nvSpPr>
        <p:spPr>
          <a:xfrm>
            <a:off x="6248324" y="2313432"/>
            <a:ext cx="13562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Governo e órgãos ambientais</a:t>
            </a:r>
            <a:endParaRPr lang="en-US" sz="1300" dirty="0"/>
          </a:p>
        </p:txBody>
      </p:sp>
      <p:sp>
        <p:nvSpPr>
          <p:cNvPr id="17" name="a0_2_d"/>
          <p:cNvSpPr txBox="1"/>
          <p:nvPr/>
        </p:nvSpPr>
        <p:spPr>
          <a:xfrm>
            <a:off x="6248324" y="2770632"/>
            <a:ext cx="13562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Cumprimento da lei e dados confiáveis.</a:t>
            </a:r>
            <a:endParaRPr lang="en-US" sz="1200" dirty="0"/>
          </a:p>
        </p:txBody>
      </p:sp>
      <p:sp>
        <p:nvSpPr>
          <p:cNvPr id="18" name="a0_3_bg"/>
          <p:cNvSpPr/>
          <p:nvPr/>
        </p:nvSpPr>
        <p:spPr>
          <a:xfrm>
            <a:off x="8016088" y="1600200"/>
            <a:ext cx="1676324" cy="1783080"/>
          </a:xfrm>
          <a:prstGeom prst="roundRect">
            <a:avLst>
              <a:gd name="adj" fmla="val 654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a0_3c"/>
          <p:cNvSpPr/>
          <p:nvPr/>
        </p:nvSpPr>
        <p:spPr>
          <a:xfrm>
            <a:off x="8198968" y="1783080"/>
            <a:ext cx="457200" cy="45720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20" name="a0_3i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7840" y="1901952"/>
            <a:ext cx="219456" cy="219456"/>
          </a:xfrm>
          <a:prstGeom prst="rect">
            <a:avLst/>
          </a:prstGeom>
        </p:spPr>
      </p:pic>
      <p:sp>
        <p:nvSpPr>
          <p:cNvPr id="21" name="a0_3_h"/>
          <p:cNvSpPr txBox="1"/>
          <p:nvPr/>
        </p:nvSpPr>
        <p:spPr>
          <a:xfrm>
            <a:off x="8198968" y="2313432"/>
            <a:ext cx="13562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Investidores</a:t>
            </a:r>
            <a:endParaRPr lang="en-US" sz="1300" dirty="0"/>
          </a:p>
        </p:txBody>
      </p:sp>
      <p:sp>
        <p:nvSpPr>
          <p:cNvPr id="22" name="a0_3_d"/>
          <p:cNvSpPr txBox="1"/>
          <p:nvPr/>
        </p:nvSpPr>
        <p:spPr>
          <a:xfrm>
            <a:off x="8198968" y="2770632"/>
            <a:ext cx="13562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Risco sob controle e valor no longo prazo.</a:t>
            </a:r>
            <a:endParaRPr lang="en-US" sz="1200" dirty="0"/>
          </a:p>
        </p:txBody>
      </p:sp>
      <p:sp>
        <p:nvSpPr>
          <p:cNvPr id="23" name="a0_4_bg"/>
          <p:cNvSpPr/>
          <p:nvPr/>
        </p:nvSpPr>
        <p:spPr>
          <a:xfrm>
            <a:off x="9966731" y="1600200"/>
            <a:ext cx="1676324" cy="1783080"/>
          </a:xfrm>
          <a:prstGeom prst="roundRect">
            <a:avLst>
              <a:gd name="adj" fmla="val 654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a0_4c"/>
          <p:cNvSpPr/>
          <p:nvPr/>
        </p:nvSpPr>
        <p:spPr>
          <a:xfrm>
            <a:off x="10149611" y="1783080"/>
            <a:ext cx="457200" cy="45720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25" name="a0_4i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68483" y="1901952"/>
            <a:ext cx="219456" cy="219456"/>
          </a:xfrm>
          <a:prstGeom prst="rect">
            <a:avLst/>
          </a:prstGeom>
        </p:spPr>
      </p:pic>
      <p:sp>
        <p:nvSpPr>
          <p:cNvPr id="26" name="a0_4_h"/>
          <p:cNvSpPr txBox="1"/>
          <p:nvPr/>
        </p:nvSpPr>
        <p:spPr>
          <a:xfrm>
            <a:off x="10149611" y="2313432"/>
            <a:ext cx="13562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Consumidores</a:t>
            </a:r>
            <a:endParaRPr lang="en-US" sz="1300" dirty="0"/>
          </a:p>
        </p:txBody>
      </p:sp>
      <p:sp>
        <p:nvSpPr>
          <p:cNvPr id="27" name="a0_4_d"/>
          <p:cNvSpPr txBox="1"/>
          <p:nvPr/>
        </p:nvSpPr>
        <p:spPr>
          <a:xfrm>
            <a:off x="10149611" y="2770632"/>
            <a:ext cx="13562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Serviço essencial, seguro e ético.</a:t>
            </a:r>
            <a:endParaRPr lang="en-US" sz="1200" dirty="0"/>
          </a:p>
        </p:txBody>
      </p:sp>
      <p:sp>
        <p:nvSpPr>
          <p:cNvPr id="28" name="a0_5_bg"/>
          <p:cNvSpPr/>
          <p:nvPr/>
        </p:nvSpPr>
        <p:spPr>
          <a:xfrm>
            <a:off x="4114800" y="3566160"/>
            <a:ext cx="1676324" cy="1783080"/>
          </a:xfrm>
          <a:prstGeom prst="roundRect">
            <a:avLst>
              <a:gd name="adj" fmla="val 654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a0_5c"/>
          <p:cNvSpPr/>
          <p:nvPr/>
        </p:nvSpPr>
        <p:spPr>
          <a:xfrm>
            <a:off x="4297680" y="3749040"/>
            <a:ext cx="457200" cy="45720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30" name="a0_5i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6552" y="3867912"/>
            <a:ext cx="219456" cy="219456"/>
          </a:xfrm>
          <a:prstGeom prst="rect">
            <a:avLst/>
          </a:prstGeom>
        </p:spPr>
      </p:pic>
      <p:sp>
        <p:nvSpPr>
          <p:cNvPr id="31" name="a0_5_h"/>
          <p:cNvSpPr txBox="1"/>
          <p:nvPr/>
        </p:nvSpPr>
        <p:spPr>
          <a:xfrm>
            <a:off x="4297680" y="4279392"/>
            <a:ext cx="13562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Fornecedores</a:t>
            </a:r>
            <a:endParaRPr lang="en-US" sz="1300" dirty="0"/>
          </a:p>
        </p:txBody>
      </p:sp>
      <p:sp>
        <p:nvSpPr>
          <p:cNvPr id="32" name="a0_5_d"/>
          <p:cNvSpPr txBox="1"/>
          <p:nvPr/>
        </p:nvSpPr>
        <p:spPr>
          <a:xfrm>
            <a:off x="4297680" y="4736592"/>
            <a:ext cx="13562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Parcerias sem passivo ambiental.</a:t>
            </a:r>
            <a:endParaRPr lang="en-US" sz="1200" dirty="0"/>
          </a:p>
        </p:txBody>
      </p:sp>
      <p:sp>
        <p:nvSpPr>
          <p:cNvPr id="33" name="a0_6_bg"/>
          <p:cNvSpPr/>
          <p:nvPr/>
        </p:nvSpPr>
        <p:spPr>
          <a:xfrm>
            <a:off x="6065444" y="3566160"/>
            <a:ext cx="1676324" cy="1783080"/>
          </a:xfrm>
          <a:prstGeom prst="roundRect">
            <a:avLst>
              <a:gd name="adj" fmla="val 654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a0_6c"/>
          <p:cNvSpPr/>
          <p:nvPr/>
        </p:nvSpPr>
        <p:spPr>
          <a:xfrm>
            <a:off x="6248324" y="3749040"/>
            <a:ext cx="457200" cy="45720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35" name="a0_6i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7196" y="3867912"/>
            <a:ext cx="219456" cy="219456"/>
          </a:xfrm>
          <a:prstGeom prst="rect">
            <a:avLst/>
          </a:prstGeom>
        </p:spPr>
      </p:pic>
      <p:sp>
        <p:nvSpPr>
          <p:cNvPr id="36" name="a0_6_h"/>
          <p:cNvSpPr txBox="1"/>
          <p:nvPr/>
        </p:nvSpPr>
        <p:spPr>
          <a:xfrm>
            <a:off x="6248324" y="4279392"/>
            <a:ext cx="13562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Imprensa e sociedade</a:t>
            </a:r>
            <a:endParaRPr lang="en-US" sz="1300" dirty="0"/>
          </a:p>
        </p:txBody>
      </p:sp>
      <p:sp>
        <p:nvSpPr>
          <p:cNvPr id="37" name="a0_6_d"/>
          <p:cNvSpPr txBox="1"/>
          <p:nvPr/>
        </p:nvSpPr>
        <p:spPr>
          <a:xfrm>
            <a:off x="6248324" y="4736592"/>
            <a:ext cx="13562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Transparência e prestação de contas.</a:t>
            </a:r>
            <a:endParaRPr lang="en-US" sz="1200" dirty="0"/>
          </a:p>
        </p:txBody>
      </p:sp>
      <p:sp>
        <p:nvSpPr>
          <p:cNvPr id="38" name="a0_7_bg"/>
          <p:cNvSpPr/>
          <p:nvPr/>
        </p:nvSpPr>
        <p:spPr>
          <a:xfrm>
            <a:off x="8016088" y="3566160"/>
            <a:ext cx="1676324" cy="1783080"/>
          </a:xfrm>
          <a:prstGeom prst="roundRect">
            <a:avLst>
              <a:gd name="adj" fmla="val 654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9" name="a0_7c"/>
          <p:cNvSpPr/>
          <p:nvPr/>
        </p:nvSpPr>
        <p:spPr>
          <a:xfrm>
            <a:off x="8198968" y="3749040"/>
            <a:ext cx="457200" cy="45720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40" name="a0_7i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17840" y="3867912"/>
            <a:ext cx="219456" cy="219456"/>
          </a:xfrm>
          <a:prstGeom prst="rect">
            <a:avLst/>
          </a:prstGeom>
        </p:spPr>
      </p:pic>
      <p:sp>
        <p:nvSpPr>
          <p:cNvPr id="41" name="a0_7_h"/>
          <p:cNvSpPr txBox="1"/>
          <p:nvPr/>
        </p:nvSpPr>
        <p:spPr>
          <a:xfrm>
            <a:off x="8198968" y="4279392"/>
            <a:ext cx="13562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Justiça e advogados</a:t>
            </a:r>
            <a:endParaRPr lang="en-US" sz="1300" dirty="0"/>
          </a:p>
        </p:txBody>
      </p:sp>
      <p:sp>
        <p:nvSpPr>
          <p:cNvPr id="42" name="a0_7_d"/>
          <p:cNvSpPr txBox="1"/>
          <p:nvPr/>
        </p:nvSpPr>
        <p:spPr>
          <a:xfrm>
            <a:off x="8198968" y="4736592"/>
            <a:ext cx="13562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Responsabilização e indenização justa.</a:t>
            </a:r>
            <a:endParaRPr lang="en-US" sz="1200" dirty="0"/>
          </a:p>
        </p:txBody>
      </p:sp>
      <p:sp>
        <p:nvSpPr>
          <p:cNvPr id="43" name="a0_8_bg"/>
          <p:cNvSpPr/>
          <p:nvPr/>
        </p:nvSpPr>
        <p:spPr>
          <a:xfrm>
            <a:off x="9966731" y="3566160"/>
            <a:ext cx="1676324" cy="1783080"/>
          </a:xfrm>
          <a:prstGeom prst="roundRect">
            <a:avLst>
              <a:gd name="adj" fmla="val 654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4" name="a0_8_t"/>
          <p:cNvSpPr txBox="1"/>
          <p:nvPr/>
        </p:nvSpPr>
        <p:spPr>
          <a:xfrm>
            <a:off x="10149611" y="3566160"/>
            <a:ext cx="135628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tx1"/>
                </a:solidFill>
              </a:rPr>
              <a:t>INSIGHT</a:t>
            </a:r>
            <a:endParaRPr lang="en-US" sz="11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Stakeholder ignorado encontra outro jeito de ser ouvido. Em Hinkley, foi a Justiça.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184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184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184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184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184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206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nodeType="withEffect">
                                  <p:stCondLst>
                                    <p:cond delay="206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4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O PAPEL DA EMPRESA · ANÁLISE ESG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A EMPRESA FALHOU NOS TRÊS PILARES</a:t>
            </a:r>
            <a:endParaRPr lang="en-US" sz="2800" dirty="0"/>
          </a:p>
        </p:txBody>
      </p:sp>
      <p:sp>
        <p:nvSpPr>
          <p:cNvPr id="4" name="a0_0_bg"/>
          <p:cNvSpPr/>
          <p:nvPr/>
        </p:nvSpPr>
        <p:spPr>
          <a:xfrm>
            <a:off x="548640" y="1600200"/>
            <a:ext cx="3515258" cy="3520440"/>
          </a:xfrm>
          <a:prstGeom prst="roundRect">
            <a:avLst>
              <a:gd name="adj" fmla="val 3121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a0_0_h"/>
          <p:cNvSpPr txBox="1"/>
          <p:nvPr/>
        </p:nvSpPr>
        <p:spPr>
          <a:xfrm>
            <a:off x="822960" y="1737360"/>
            <a:ext cx="30580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E  </a:t>
            </a:r>
            <a:pPr indent="0" marL="0">
              <a:buNone/>
            </a:pPr>
            <a:r>
              <a:rPr lang="en-US" sz="1300" b="1" spc="200" kern="0" dirty="0">
                <a:solidFill>
                  <a:schemeClr val="bg1"/>
                </a:solidFill>
              </a:rPr>
              <a:t>AMBIENTAL</a:t>
            </a:r>
            <a:endParaRPr lang="en-US" sz="4400" dirty="0"/>
          </a:p>
        </p:txBody>
      </p:sp>
      <p:sp>
        <p:nvSpPr>
          <p:cNvPr id="6" name="a0_0_b"/>
          <p:cNvSpPr txBox="1"/>
          <p:nvPr/>
        </p:nvSpPr>
        <p:spPr>
          <a:xfrm>
            <a:off x="822960" y="2697480"/>
            <a:ext cx="305805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Descarte de substância tóxica sem controle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Nenhum monitoramento sério da água da cidade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Anos de demora para conter a contaminação</a:t>
            </a:r>
            <a:endParaRPr lang="en-US" sz="1500" dirty="0"/>
          </a:p>
        </p:txBody>
      </p:sp>
      <p:sp>
        <p:nvSpPr>
          <p:cNvPr id="7" name="a0_1_bg"/>
          <p:cNvSpPr/>
          <p:nvPr/>
        </p:nvSpPr>
        <p:spPr>
          <a:xfrm>
            <a:off x="4338218" y="1600200"/>
            <a:ext cx="3515258" cy="3520440"/>
          </a:xfrm>
          <a:prstGeom prst="roundRect">
            <a:avLst>
              <a:gd name="adj" fmla="val 3121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a0_1_h"/>
          <p:cNvSpPr txBox="1"/>
          <p:nvPr/>
        </p:nvSpPr>
        <p:spPr>
          <a:xfrm>
            <a:off x="4612538" y="1737360"/>
            <a:ext cx="30580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S  </a:t>
            </a:r>
            <a:pPr indent="0" marL="0">
              <a:buNone/>
            </a:pPr>
            <a:r>
              <a:rPr lang="en-US" sz="1300" b="1" spc="200" kern="0" dirty="0">
                <a:solidFill>
                  <a:schemeClr val="bg1"/>
                </a:solidFill>
              </a:rPr>
              <a:t>SOCIAL</a:t>
            </a:r>
            <a:endParaRPr lang="en-US" sz="4400" dirty="0"/>
          </a:p>
        </p:txBody>
      </p:sp>
      <p:sp>
        <p:nvSpPr>
          <p:cNvPr id="9" name="a0_1_b"/>
          <p:cNvSpPr txBox="1"/>
          <p:nvPr/>
        </p:nvSpPr>
        <p:spPr>
          <a:xfrm>
            <a:off x="4612538" y="2697480"/>
            <a:ext cx="305805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Saúde da comunidade exposta ao risco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Informação negada a quem era afetado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Compra de casas para encerrar o assunto, sem reparar o dano</a:t>
            </a:r>
            <a:endParaRPr lang="en-US" sz="1500" dirty="0"/>
          </a:p>
        </p:txBody>
      </p:sp>
      <p:sp>
        <p:nvSpPr>
          <p:cNvPr id="10" name="a0_2_bg"/>
          <p:cNvSpPr/>
          <p:nvPr/>
        </p:nvSpPr>
        <p:spPr>
          <a:xfrm>
            <a:off x="8127797" y="1600200"/>
            <a:ext cx="3515258" cy="3520440"/>
          </a:xfrm>
          <a:prstGeom prst="roundRect">
            <a:avLst>
              <a:gd name="adj" fmla="val 312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a0_2_h"/>
          <p:cNvSpPr txBox="1"/>
          <p:nvPr/>
        </p:nvSpPr>
        <p:spPr>
          <a:xfrm>
            <a:off x="8402117" y="1737360"/>
            <a:ext cx="30580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G  </a:t>
            </a:r>
            <a:pPr indent="0" marL="0">
              <a:buNone/>
            </a:pPr>
            <a:r>
              <a:rPr lang="en-US" sz="1300" b="1" spc="200" kern="0" dirty="0">
                <a:solidFill>
                  <a:schemeClr val="tx1"/>
                </a:solidFill>
              </a:rPr>
              <a:t>GOVERNANÇA</a:t>
            </a:r>
            <a:endParaRPr lang="en-US" sz="4400" dirty="0"/>
          </a:p>
        </p:txBody>
      </p:sp>
      <p:sp>
        <p:nvSpPr>
          <p:cNvPr id="12" name="a0_2_b"/>
          <p:cNvSpPr txBox="1"/>
          <p:nvPr/>
        </p:nvSpPr>
        <p:spPr>
          <a:xfrm>
            <a:off x="8402117" y="2697480"/>
            <a:ext cx="305805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Documentos internos mostram que a direção sabia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Falta de transparência com os órgãos públicos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Nenhum controle interno freou a decisão</a:t>
            </a:r>
            <a:endParaRPr lang="en-US" sz="1500" dirty="0"/>
          </a:p>
        </p:txBody>
      </p:sp>
      <p:sp>
        <p:nvSpPr>
          <p:cNvPr id="13" name="a1_0_in_bg"/>
          <p:cNvSpPr/>
          <p:nvPr/>
        </p:nvSpPr>
        <p:spPr>
          <a:xfrm>
            <a:off x="548640" y="5349240"/>
            <a:ext cx="11094415" cy="777240"/>
          </a:xfrm>
          <a:prstGeom prst="roundRect">
            <a:avLst>
              <a:gd name="adj" fmla="val 14118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a1_0_in_icc"/>
          <p:cNvSpPr/>
          <p:nvPr/>
        </p:nvSpPr>
        <p:spPr>
          <a:xfrm>
            <a:off x="731520" y="55092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a1_0_in_ici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5628132"/>
            <a:ext cx="219456" cy="219456"/>
          </a:xfrm>
          <a:prstGeom prst="rect">
            <a:avLst/>
          </a:prstGeom>
        </p:spPr>
      </p:pic>
      <p:sp>
        <p:nvSpPr>
          <p:cNvPr id="16" name="a1_0_in_t"/>
          <p:cNvSpPr txBox="1"/>
          <p:nvPr/>
        </p:nvSpPr>
        <p:spPr>
          <a:xfrm>
            <a:off x="1325880" y="5349240"/>
            <a:ext cx="10134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INSIGHT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 falha de Governança causou as falhas Ambiental e Social: sem controle interno, esconder virou estratégia.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O PAPEL DA EMPRESA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 É A RESPONSABILIDADE DA ORGANIZAÇÃO?</a:t>
            </a:r>
            <a:endParaRPr lang="en-US" sz="2800" dirty="0"/>
          </a:p>
        </p:txBody>
      </p:sp>
      <p:sp>
        <p:nvSpPr>
          <p:cNvPr id="4" name="a0_0_q"/>
          <p:cNvSpPr txBox="1"/>
          <p:nvPr/>
        </p:nvSpPr>
        <p:spPr>
          <a:xfrm>
            <a:off x="548640" y="164592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“Responder pelo dano que causou, mesmo sem intenção, e agir antes de ser obrigada.”</a:t>
            </a:r>
            <a:endParaRPr lang="en-US" sz="2400" dirty="0"/>
          </a:p>
        </p:txBody>
      </p:sp>
      <p:sp>
        <p:nvSpPr>
          <p:cNvPr id="5" name="a0_1_bg"/>
          <p:cNvSpPr/>
          <p:nvPr/>
        </p:nvSpPr>
        <p:spPr>
          <a:xfrm>
            <a:off x="548640" y="3611880"/>
            <a:ext cx="4846320" cy="2468880"/>
          </a:xfrm>
          <a:prstGeom prst="roundRect">
            <a:avLst>
              <a:gd name="adj" fmla="val 444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a0_1c"/>
          <p:cNvSpPr/>
          <p:nvPr/>
        </p:nvSpPr>
        <p:spPr>
          <a:xfrm>
            <a:off x="822960" y="38404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a0_1i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3983126"/>
            <a:ext cx="263347" cy="263347"/>
          </a:xfrm>
          <a:prstGeom prst="rect">
            <a:avLst/>
          </a:prstGeom>
        </p:spPr>
      </p:pic>
      <p:sp>
        <p:nvSpPr>
          <p:cNvPr id="8" name="a0_1_h"/>
          <p:cNvSpPr txBox="1"/>
          <p:nvPr/>
        </p:nvSpPr>
        <p:spPr>
          <a:xfrm>
            <a:off x="1554480" y="38404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E NO BRASIL?</a:t>
            </a:r>
            <a:endParaRPr lang="en-US" sz="1400" dirty="0"/>
          </a:p>
        </p:txBody>
      </p:sp>
      <p:sp>
        <p:nvSpPr>
          <p:cNvPr id="9" name="a0_1_b"/>
          <p:cNvSpPr txBox="1"/>
          <p:nvPr/>
        </p:nvSpPr>
        <p:spPr>
          <a:xfrm>
            <a:off x="822960" y="4526280"/>
            <a:ext cx="4343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</a:rPr>
              <a:t>Responsabilidade ambiental objetiva: a empresa responde independentemente de culpa (Lei 6.938/81)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</a:rPr>
              <a:t>Lei de Crimes Ambientais (Lei 9.605/98)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</a:rPr>
              <a:t>Dever de avisar consumidores e autoridades sobre riscos (CDC, art. 10)</a:t>
            </a:r>
            <a:endParaRPr lang="en-US" sz="1300" dirty="0"/>
          </a:p>
        </p:txBody>
      </p:sp>
      <p:sp>
        <p:nvSpPr>
          <p:cNvPr id="10" name="a0_2_bg"/>
          <p:cNvSpPr/>
          <p:nvPr/>
        </p:nvSpPr>
        <p:spPr>
          <a:xfrm>
            <a:off x="5852160" y="1645920"/>
            <a:ext cx="5790895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a0_2c"/>
          <p:cNvSpPr/>
          <p:nvPr/>
        </p:nvSpPr>
        <p:spPr>
          <a:xfrm>
            <a:off x="6080760" y="1828800"/>
            <a:ext cx="594360" cy="5943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2" name="a0_2i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5294" y="1983334"/>
            <a:ext cx="285293" cy="285293"/>
          </a:xfrm>
          <a:prstGeom prst="rect">
            <a:avLst/>
          </a:prstGeom>
        </p:spPr>
      </p:pic>
      <p:sp>
        <p:nvSpPr>
          <p:cNvPr id="13" name="a0_2_t"/>
          <p:cNvSpPr txBox="1"/>
          <p:nvPr/>
        </p:nvSpPr>
        <p:spPr>
          <a:xfrm>
            <a:off x="6903720" y="1645920"/>
            <a:ext cx="45564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  INFORMAR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Comunicar riscos à comunidade e às autoridades assim que souber.</a:t>
            </a:r>
            <a:endParaRPr lang="en-US" sz="1400" dirty="0"/>
          </a:p>
        </p:txBody>
      </p:sp>
      <p:sp>
        <p:nvSpPr>
          <p:cNvPr id="14" name="a0_3_bg"/>
          <p:cNvSpPr/>
          <p:nvPr/>
        </p:nvSpPr>
        <p:spPr>
          <a:xfrm>
            <a:off x="5852160" y="2761488"/>
            <a:ext cx="5790895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a0_3c"/>
          <p:cNvSpPr/>
          <p:nvPr/>
        </p:nvSpPr>
        <p:spPr>
          <a:xfrm>
            <a:off x="6080760" y="2944368"/>
            <a:ext cx="594360" cy="5943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6" name="a0_3i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5294" y="3098902"/>
            <a:ext cx="285293" cy="285293"/>
          </a:xfrm>
          <a:prstGeom prst="rect">
            <a:avLst/>
          </a:prstGeom>
        </p:spPr>
      </p:pic>
      <p:sp>
        <p:nvSpPr>
          <p:cNvPr id="17" name="a0_3_t"/>
          <p:cNvSpPr txBox="1"/>
          <p:nvPr/>
        </p:nvSpPr>
        <p:spPr>
          <a:xfrm>
            <a:off x="6903720" y="2761488"/>
            <a:ext cx="45564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  REPARAR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Custear saúde, recuperação ambiental e perdas das famílias.</a:t>
            </a:r>
            <a:endParaRPr lang="en-US" sz="1400" dirty="0"/>
          </a:p>
        </p:txBody>
      </p:sp>
      <p:sp>
        <p:nvSpPr>
          <p:cNvPr id="18" name="a0_4_bg"/>
          <p:cNvSpPr/>
          <p:nvPr/>
        </p:nvSpPr>
        <p:spPr>
          <a:xfrm>
            <a:off x="5852160" y="3877056"/>
            <a:ext cx="5790895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a0_4c"/>
          <p:cNvSpPr/>
          <p:nvPr/>
        </p:nvSpPr>
        <p:spPr>
          <a:xfrm>
            <a:off x="6080760" y="4059936"/>
            <a:ext cx="594360" cy="5943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20" name="a0_4i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5294" y="4214470"/>
            <a:ext cx="285293" cy="285293"/>
          </a:xfrm>
          <a:prstGeom prst="rect">
            <a:avLst/>
          </a:prstGeom>
        </p:spPr>
      </p:pic>
      <p:sp>
        <p:nvSpPr>
          <p:cNvPr id="21" name="a0_4_t"/>
          <p:cNvSpPr txBox="1"/>
          <p:nvPr/>
        </p:nvSpPr>
        <p:spPr>
          <a:xfrm>
            <a:off x="6903720" y="3877056"/>
            <a:ext cx="45564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  PREVENIR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Eliminar a causa e monitorar para que o problema não se repita.</a:t>
            </a:r>
            <a:endParaRPr lang="en-US" sz="1400" dirty="0"/>
          </a:p>
        </p:txBody>
      </p:sp>
      <p:sp>
        <p:nvSpPr>
          <p:cNvPr id="22" name="a0_5_bg"/>
          <p:cNvSpPr/>
          <p:nvPr/>
        </p:nvSpPr>
        <p:spPr>
          <a:xfrm>
            <a:off x="5852160" y="4992624"/>
            <a:ext cx="5790895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a0_5c"/>
          <p:cNvSpPr/>
          <p:nvPr/>
        </p:nvSpPr>
        <p:spPr>
          <a:xfrm>
            <a:off x="6080760" y="5175504"/>
            <a:ext cx="594360" cy="5943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24" name="a0_5i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5294" y="5330038"/>
            <a:ext cx="285293" cy="285293"/>
          </a:xfrm>
          <a:prstGeom prst="rect">
            <a:avLst/>
          </a:prstGeom>
        </p:spPr>
      </p:pic>
      <p:sp>
        <p:nvSpPr>
          <p:cNvPr id="25" name="a0_5_t"/>
          <p:cNvSpPr txBox="1"/>
          <p:nvPr/>
        </p:nvSpPr>
        <p:spPr>
          <a:xfrm>
            <a:off x="6903720" y="4992624"/>
            <a:ext cx="45564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  PRESTAR CONTAS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Publicar resultados de forma aberta e verificável.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IMPACTO NA GESTÃO COMERCIAL · O PREÇO DO SILÊNCIO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QUANTO CUSTOU ESCOLHER O SILÊNCIO</a:t>
            </a:r>
            <a:endParaRPr lang="en-US" sz="2800" dirty="0"/>
          </a:p>
        </p:txBody>
      </p:sp>
      <p:sp>
        <p:nvSpPr>
          <p:cNvPr id="4" name="a0_0_bg"/>
          <p:cNvSpPr/>
          <p:nvPr/>
        </p:nvSpPr>
        <p:spPr>
          <a:xfrm>
            <a:off x="548640" y="1691640"/>
            <a:ext cx="3515258" cy="2377440"/>
          </a:xfrm>
          <a:prstGeom prst="roundRect">
            <a:avLst>
              <a:gd name="adj" fmla="val 4615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a0_0_v"/>
          <p:cNvSpPr txBox="1"/>
          <p:nvPr/>
        </p:nvSpPr>
        <p:spPr>
          <a:xfrm>
            <a:off x="822960" y="1874520"/>
            <a:ext cx="30580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US$ 333 mi</a:t>
            </a:r>
            <a:endParaRPr lang="en-US" sz="4800" dirty="0"/>
          </a:p>
        </p:txBody>
      </p:sp>
      <p:sp>
        <p:nvSpPr>
          <p:cNvPr id="6" name="a0_0_d"/>
          <p:cNvSpPr txBox="1"/>
          <p:nvPr/>
        </p:nvSpPr>
        <p:spPr>
          <a:xfrm>
            <a:off x="822960" y="3017520"/>
            <a:ext cx="30580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acordo de 1996 com os moradores de Hinkley</a:t>
            </a:r>
            <a:endParaRPr lang="en-US" sz="1500" dirty="0"/>
          </a:p>
        </p:txBody>
      </p:sp>
      <p:sp>
        <p:nvSpPr>
          <p:cNvPr id="7" name="a0_0_op"/>
          <p:cNvSpPr txBox="1"/>
          <p:nvPr/>
        </p:nvSpPr>
        <p:spPr>
          <a:xfrm>
            <a:off x="4063898" y="251460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+</a:t>
            </a:r>
            <a:endParaRPr lang="en-US" sz="2800" dirty="0"/>
          </a:p>
        </p:txBody>
      </p:sp>
      <p:sp>
        <p:nvSpPr>
          <p:cNvPr id="8" name="a0_1_bg"/>
          <p:cNvSpPr/>
          <p:nvPr/>
        </p:nvSpPr>
        <p:spPr>
          <a:xfrm>
            <a:off x="4338218" y="1691640"/>
            <a:ext cx="3515258" cy="2377440"/>
          </a:xfrm>
          <a:prstGeom prst="roundRect">
            <a:avLst>
              <a:gd name="adj" fmla="val 4615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a0_1_v"/>
          <p:cNvSpPr txBox="1"/>
          <p:nvPr/>
        </p:nvSpPr>
        <p:spPr>
          <a:xfrm>
            <a:off x="4612538" y="1874520"/>
            <a:ext cx="30580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US$ 295 mi</a:t>
            </a:r>
            <a:endParaRPr lang="en-US" sz="4800" dirty="0"/>
          </a:p>
        </p:txBody>
      </p:sp>
      <p:sp>
        <p:nvSpPr>
          <p:cNvPr id="10" name="a0_1_d"/>
          <p:cNvSpPr txBox="1"/>
          <p:nvPr/>
        </p:nvSpPr>
        <p:spPr>
          <a:xfrm>
            <a:off x="4612538" y="3017520"/>
            <a:ext cx="30580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novo acordo em 2006, em casos de outras unidades</a:t>
            </a:r>
            <a:endParaRPr lang="en-US" sz="1500" dirty="0"/>
          </a:p>
        </p:txBody>
      </p:sp>
      <p:sp>
        <p:nvSpPr>
          <p:cNvPr id="11" name="a0_1_op"/>
          <p:cNvSpPr txBox="1"/>
          <p:nvPr/>
        </p:nvSpPr>
        <p:spPr>
          <a:xfrm>
            <a:off x="7853477" y="251460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=</a:t>
            </a:r>
            <a:endParaRPr lang="en-US" sz="2800" dirty="0"/>
          </a:p>
        </p:txBody>
      </p:sp>
      <p:sp>
        <p:nvSpPr>
          <p:cNvPr id="12" name="a0_2_bg"/>
          <p:cNvSpPr/>
          <p:nvPr/>
        </p:nvSpPr>
        <p:spPr>
          <a:xfrm>
            <a:off x="8127797" y="1691640"/>
            <a:ext cx="3515258" cy="2377440"/>
          </a:xfrm>
          <a:prstGeom prst="roundRect">
            <a:avLst>
              <a:gd name="adj" fmla="val 461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a0_2_v"/>
          <p:cNvSpPr txBox="1"/>
          <p:nvPr/>
        </p:nvSpPr>
        <p:spPr>
          <a:xfrm>
            <a:off x="8402117" y="1874520"/>
            <a:ext cx="30580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</a:rPr>
              <a:t>US$ 628 mi</a:t>
            </a:r>
            <a:endParaRPr lang="en-US" sz="4800" dirty="0"/>
          </a:p>
        </p:txBody>
      </p:sp>
      <p:sp>
        <p:nvSpPr>
          <p:cNvPr id="14" name="a0_2_d"/>
          <p:cNvSpPr txBox="1"/>
          <p:nvPr/>
        </p:nvSpPr>
        <p:spPr>
          <a:xfrm>
            <a:off x="8402117" y="3017520"/>
            <a:ext cx="30580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só em acordos judiciais, sem contar limpeza, defesa e marca</a:t>
            </a:r>
            <a:endParaRPr lang="en-US" sz="1500" dirty="0"/>
          </a:p>
        </p:txBody>
      </p:sp>
      <p:sp>
        <p:nvSpPr>
          <p:cNvPr id="15" name="a1_0_h"/>
          <p:cNvSpPr txBox="1"/>
          <p:nvPr/>
        </p:nvSpPr>
        <p:spPr>
          <a:xfrm>
            <a:off x="548640" y="43434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E OS CUSTOS QUE NÃO CABEM NUM ACORDO</a:t>
            </a:r>
            <a:endParaRPr lang="en-US" sz="1200" dirty="0"/>
          </a:p>
        </p:txBody>
      </p:sp>
      <p:sp>
        <p:nvSpPr>
          <p:cNvPr id="16" name="a1_1c"/>
          <p:cNvSpPr/>
          <p:nvPr/>
        </p:nvSpPr>
        <p:spPr>
          <a:xfrm>
            <a:off x="548640" y="484632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7" name="a1_1i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8835" y="5036515"/>
            <a:ext cx="351130" cy="351130"/>
          </a:xfrm>
          <a:prstGeom prst="rect">
            <a:avLst/>
          </a:prstGeom>
        </p:spPr>
      </p:pic>
      <p:sp>
        <p:nvSpPr>
          <p:cNvPr id="18" name="a1_1_t"/>
          <p:cNvSpPr txBox="1"/>
          <p:nvPr/>
        </p:nvSpPr>
        <p:spPr>
          <a:xfrm>
            <a:off x="1463040" y="4800600"/>
            <a:ext cx="26008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Décadas de remediação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do lençol freático, ainda em andamento</a:t>
            </a:r>
            <a:endParaRPr lang="en-US" sz="1600" dirty="0"/>
          </a:p>
        </p:txBody>
      </p:sp>
      <p:sp>
        <p:nvSpPr>
          <p:cNvPr id="19" name="a1_2c"/>
          <p:cNvSpPr/>
          <p:nvPr/>
        </p:nvSpPr>
        <p:spPr>
          <a:xfrm>
            <a:off x="4338218" y="484632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0" name="a1_2i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8414" y="5036515"/>
            <a:ext cx="351130" cy="351130"/>
          </a:xfrm>
          <a:prstGeom prst="rect">
            <a:avLst/>
          </a:prstGeom>
        </p:spPr>
      </p:pic>
      <p:sp>
        <p:nvSpPr>
          <p:cNvPr id="21" name="a1_2_t"/>
          <p:cNvSpPr txBox="1"/>
          <p:nvPr/>
        </p:nvSpPr>
        <p:spPr>
          <a:xfrm>
            <a:off x="5252618" y="4800600"/>
            <a:ext cx="26008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Uma cidade esvaziada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com casas compradas e demolidas</a:t>
            </a:r>
            <a:endParaRPr lang="en-US" sz="1600" dirty="0"/>
          </a:p>
        </p:txBody>
      </p:sp>
      <p:sp>
        <p:nvSpPr>
          <p:cNvPr id="22" name="a1_3c"/>
          <p:cNvSpPr/>
          <p:nvPr/>
        </p:nvSpPr>
        <p:spPr>
          <a:xfrm>
            <a:off x="8127797" y="484632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3" name="a1_3i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7992" y="5036515"/>
            <a:ext cx="351130" cy="351130"/>
          </a:xfrm>
          <a:prstGeom prst="rect">
            <a:avLst/>
          </a:prstGeom>
        </p:spPr>
      </p:pic>
      <p:sp>
        <p:nvSpPr>
          <p:cNvPr id="24" name="a1_3_t"/>
          <p:cNvSpPr txBox="1"/>
          <p:nvPr/>
        </p:nvSpPr>
        <p:spPr>
          <a:xfrm>
            <a:off x="9042197" y="4800600"/>
            <a:ext cx="26008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Uma marca no cinema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como vilã de um filme premiado no Oscar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IMPACTO NA GESTÃO COMERCIAL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 CONFIANÇA ACABA, AS VENDAS VÃO JUNTO</a:t>
            </a:r>
            <a:endParaRPr lang="en-US" sz="2800" dirty="0"/>
          </a:p>
        </p:txBody>
      </p:sp>
      <p:sp>
        <p:nvSpPr>
          <p:cNvPr id="4" name="a0_0_bg"/>
          <p:cNvSpPr/>
          <p:nvPr/>
        </p:nvSpPr>
        <p:spPr>
          <a:xfrm>
            <a:off x="548640" y="1600200"/>
            <a:ext cx="2567864" cy="164592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a0_0c"/>
          <p:cNvSpPr/>
          <p:nvPr/>
        </p:nvSpPr>
        <p:spPr>
          <a:xfrm>
            <a:off x="749808" y="1801368"/>
            <a:ext cx="502920" cy="50292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6" name="a0_0i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567" y="1932127"/>
            <a:ext cx="241402" cy="241402"/>
          </a:xfrm>
          <a:prstGeom prst="rect">
            <a:avLst/>
          </a:prstGeom>
        </p:spPr>
      </p:pic>
      <p:sp>
        <p:nvSpPr>
          <p:cNvPr id="7" name="a0_0_h"/>
          <p:cNvSpPr txBox="1"/>
          <p:nvPr/>
        </p:nvSpPr>
        <p:spPr>
          <a:xfrm>
            <a:off x="1371600" y="1801368"/>
            <a:ext cx="1607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Clientes</a:t>
            </a:r>
            <a:endParaRPr lang="en-US" sz="1500" dirty="0"/>
          </a:p>
        </p:txBody>
      </p:sp>
      <p:sp>
        <p:nvSpPr>
          <p:cNvPr id="8" name="a0_0_d"/>
          <p:cNvSpPr txBox="1"/>
          <p:nvPr/>
        </p:nvSpPr>
        <p:spPr>
          <a:xfrm>
            <a:off x="749808" y="2404872"/>
            <a:ext cx="2202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Perdem a confiança e trocam de fornecedor quando há alternativa.</a:t>
            </a:r>
            <a:endParaRPr lang="en-US" sz="1300" dirty="0"/>
          </a:p>
        </p:txBody>
      </p:sp>
      <p:sp>
        <p:nvSpPr>
          <p:cNvPr id="9" name="a0_1_bg"/>
          <p:cNvSpPr/>
          <p:nvPr/>
        </p:nvSpPr>
        <p:spPr>
          <a:xfrm>
            <a:off x="3390824" y="1600200"/>
            <a:ext cx="2567864" cy="164592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a0_1c"/>
          <p:cNvSpPr/>
          <p:nvPr/>
        </p:nvSpPr>
        <p:spPr>
          <a:xfrm>
            <a:off x="3591992" y="1801368"/>
            <a:ext cx="502920" cy="50292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1" name="a0_1i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2751" y="1932127"/>
            <a:ext cx="241402" cy="241402"/>
          </a:xfrm>
          <a:prstGeom prst="rect">
            <a:avLst/>
          </a:prstGeom>
        </p:spPr>
      </p:pic>
      <p:sp>
        <p:nvSpPr>
          <p:cNvPr id="12" name="a0_1_h"/>
          <p:cNvSpPr txBox="1"/>
          <p:nvPr/>
        </p:nvSpPr>
        <p:spPr>
          <a:xfrm>
            <a:off x="4213784" y="1801368"/>
            <a:ext cx="1607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Vendas</a:t>
            </a:r>
            <a:endParaRPr lang="en-US" sz="1500" dirty="0"/>
          </a:p>
        </p:txBody>
      </p:sp>
      <p:sp>
        <p:nvSpPr>
          <p:cNvPr id="13" name="a0_1_d"/>
          <p:cNvSpPr txBox="1"/>
          <p:nvPr/>
        </p:nvSpPr>
        <p:spPr>
          <a:xfrm>
            <a:off x="3591992" y="2404872"/>
            <a:ext cx="2202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Grandes contratos e licitações passam a exigir critérios ESG.</a:t>
            </a:r>
            <a:endParaRPr lang="en-US" sz="1300" dirty="0"/>
          </a:p>
        </p:txBody>
      </p:sp>
      <p:sp>
        <p:nvSpPr>
          <p:cNvPr id="14" name="a0_2_bg"/>
          <p:cNvSpPr/>
          <p:nvPr/>
        </p:nvSpPr>
        <p:spPr>
          <a:xfrm>
            <a:off x="6233008" y="1600200"/>
            <a:ext cx="2567864" cy="164592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a0_2c"/>
          <p:cNvSpPr/>
          <p:nvPr/>
        </p:nvSpPr>
        <p:spPr>
          <a:xfrm>
            <a:off x="6434176" y="1801368"/>
            <a:ext cx="502920" cy="50292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6" name="a0_2i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4935" y="1932127"/>
            <a:ext cx="241402" cy="241402"/>
          </a:xfrm>
          <a:prstGeom prst="rect">
            <a:avLst/>
          </a:prstGeom>
        </p:spPr>
      </p:pic>
      <p:sp>
        <p:nvSpPr>
          <p:cNvPr id="17" name="a0_2_h"/>
          <p:cNvSpPr txBox="1"/>
          <p:nvPr/>
        </p:nvSpPr>
        <p:spPr>
          <a:xfrm>
            <a:off x="7055968" y="1801368"/>
            <a:ext cx="1607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Produto</a:t>
            </a:r>
            <a:endParaRPr lang="en-US" sz="1500" dirty="0"/>
          </a:p>
        </p:txBody>
      </p:sp>
      <p:sp>
        <p:nvSpPr>
          <p:cNvPr id="18" name="a0_2_d"/>
          <p:cNvSpPr txBox="1"/>
          <p:nvPr/>
        </p:nvSpPr>
        <p:spPr>
          <a:xfrm>
            <a:off x="6434176" y="2404872"/>
            <a:ext cx="2202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Um serviço essencial passa a ser associado a risco à saúde.</a:t>
            </a:r>
            <a:endParaRPr lang="en-US" sz="1300" dirty="0"/>
          </a:p>
        </p:txBody>
      </p:sp>
      <p:sp>
        <p:nvSpPr>
          <p:cNvPr id="19" name="a0_3_bg"/>
          <p:cNvSpPr/>
          <p:nvPr/>
        </p:nvSpPr>
        <p:spPr>
          <a:xfrm>
            <a:off x="9075191" y="1600200"/>
            <a:ext cx="2567864" cy="164592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a0_3c"/>
          <p:cNvSpPr/>
          <p:nvPr/>
        </p:nvSpPr>
        <p:spPr>
          <a:xfrm>
            <a:off x="9276359" y="1801368"/>
            <a:ext cx="502920" cy="50292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21" name="a0_3i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7119" y="1932127"/>
            <a:ext cx="241402" cy="241402"/>
          </a:xfrm>
          <a:prstGeom prst="rect">
            <a:avLst/>
          </a:prstGeom>
        </p:spPr>
      </p:pic>
      <p:sp>
        <p:nvSpPr>
          <p:cNvPr id="22" name="a0_3_h"/>
          <p:cNvSpPr txBox="1"/>
          <p:nvPr/>
        </p:nvSpPr>
        <p:spPr>
          <a:xfrm>
            <a:off x="9898151" y="1801368"/>
            <a:ext cx="1607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Marca</a:t>
            </a:r>
            <a:endParaRPr lang="en-US" sz="1500" dirty="0"/>
          </a:p>
        </p:txBody>
      </p:sp>
      <p:sp>
        <p:nvSpPr>
          <p:cNvPr id="23" name="a0_3_d"/>
          <p:cNvSpPr txBox="1"/>
          <p:nvPr/>
        </p:nvSpPr>
        <p:spPr>
          <a:xfrm>
            <a:off x="9276359" y="2404872"/>
            <a:ext cx="2202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 nome da empresa vira sinônimo do escândalo.</a:t>
            </a:r>
            <a:endParaRPr lang="en-US" sz="1300" dirty="0"/>
          </a:p>
        </p:txBody>
      </p:sp>
      <p:sp>
        <p:nvSpPr>
          <p:cNvPr id="24" name="a0_4_bg"/>
          <p:cNvSpPr/>
          <p:nvPr/>
        </p:nvSpPr>
        <p:spPr>
          <a:xfrm>
            <a:off x="548640" y="3429000"/>
            <a:ext cx="2567864" cy="164592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a0_4c"/>
          <p:cNvSpPr/>
          <p:nvPr/>
        </p:nvSpPr>
        <p:spPr>
          <a:xfrm>
            <a:off x="749808" y="3630168"/>
            <a:ext cx="502920" cy="50292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26" name="a0_4i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567" y="3760927"/>
            <a:ext cx="241402" cy="241402"/>
          </a:xfrm>
          <a:prstGeom prst="rect">
            <a:avLst/>
          </a:prstGeom>
        </p:spPr>
      </p:pic>
      <p:sp>
        <p:nvSpPr>
          <p:cNvPr id="27" name="a0_4_h"/>
          <p:cNvSpPr txBox="1"/>
          <p:nvPr/>
        </p:nvSpPr>
        <p:spPr>
          <a:xfrm>
            <a:off x="1371600" y="3630168"/>
            <a:ext cx="1607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Comunicação</a:t>
            </a:r>
            <a:endParaRPr lang="en-US" sz="1500" dirty="0"/>
          </a:p>
        </p:txBody>
      </p:sp>
      <p:sp>
        <p:nvSpPr>
          <p:cNvPr id="28" name="a0_4_d"/>
          <p:cNvSpPr txBox="1"/>
          <p:nvPr/>
        </p:nvSpPr>
        <p:spPr>
          <a:xfrm>
            <a:off x="749808" y="4233672"/>
            <a:ext cx="2202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Discurso verde sem prática vira greenwashing e perde credibilidade.</a:t>
            </a:r>
            <a:endParaRPr lang="en-US" sz="1300" dirty="0"/>
          </a:p>
        </p:txBody>
      </p:sp>
      <p:sp>
        <p:nvSpPr>
          <p:cNvPr id="29" name="a0_5_bg"/>
          <p:cNvSpPr/>
          <p:nvPr/>
        </p:nvSpPr>
        <p:spPr>
          <a:xfrm>
            <a:off x="3390824" y="3429000"/>
            <a:ext cx="2567864" cy="164592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a0_5c"/>
          <p:cNvSpPr/>
          <p:nvPr/>
        </p:nvSpPr>
        <p:spPr>
          <a:xfrm>
            <a:off x="3591992" y="3630168"/>
            <a:ext cx="502920" cy="50292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31" name="a0_5i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22751" y="3760927"/>
            <a:ext cx="241402" cy="241402"/>
          </a:xfrm>
          <a:prstGeom prst="rect">
            <a:avLst/>
          </a:prstGeom>
        </p:spPr>
      </p:pic>
      <p:sp>
        <p:nvSpPr>
          <p:cNvPr id="32" name="a0_5_h"/>
          <p:cNvSpPr txBox="1"/>
          <p:nvPr/>
        </p:nvSpPr>
        <p:spPr>
          <a:xfrm>
            <a:off x="4213784" y="3630168"/>
            <a:ext cx="1607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Fornecedores</a:t>
            </a:r>
            <a:endParaRPr lang="en-US" sz="1500" dirty="0"/>
          </a:p>
        </p:txBody>
      </p:sp>
      <p:sp>
        <p:nvSpPr>
          <p:cNvPr id="33" name="a0_5_d"/>
          <p:cNvSpPr txBox="1"/>
          <p:nvPr/>
        </p:nvSpPr>
        <p:spPr>
          <a:xfrm>
            <a:off x="3591992" y="4233672"/>
            <a:ext cx="2202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Parceiros evitam associação e exigem garantias ambientais.</a:t>
            </a:r>
            <a:endParaRPr lang="en-US" sz="1300" dirty="0"/>
          </a:p>
        </p:txBody>
      </p:sp>
      <p:sp>
        <p:nvSpPr>
          <p:cNvPr id="34" name="a0_6_bg"/>
          <p:cNvSpPr/>
          <p:nvPr/>
        </p:nvSpPr>
        <p:spPr>
          <a:xfrm>
            <a:off x="6233008" y="3429000"/>
            <a:ext cx="2567864" cy="164592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5" name="a0_6c"/>
          <p:cNvSpPr/>
          <p:nvPr/>
        </p:nvSpPr>
        <p:spPr>
          <a:xfrm>
            <a:off x="6434176" y="3630168"/>
            <a:ext cx="502920" cy="50292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36" name="a0_6i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4935" y="3760927"/>
            <a:ext cx="241402" cy="241402"/>
          </a:xfrm>
          <a:prstGeom prst="rect">
            <a:avLst/>
          </a:prstGeom>
        </p:spPr>
      </p:pic>
      <p:sp>
        <p:nvSpPr>
          <p:cNvPr id="37" name="a0_6_h"/>
          <p:cNvSpPr txBox="1"/>
          <p:nvPr/>
        </p:nvSpPr>
        <p:spPr>
          <a:xfrm>
            <a:off x="7055968" y="3630168"/>
            <a:ext cx="1607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Relacionamento</a:t>
            </a:r>
            <a:endParaRPr lang="en-US" sz="1500" dirty="0"/>
          </a:p>
        </p:txBody>
      </p:sp>
      <p:sp>
        <p:nvSpPr>
          <p:cNvPr id="38" name="a0_6_d"/>
          <p:cNvSpPr txBox="1"/>
          <p:nvPr/>
        </p:nvSpPr>
        <p:spPr>
          <a:xfrm>
            <a:off x="6434176" y="4233672"/>
            <a:ext cx="2202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 comunidade passa a ver a empresa como ameaça, não como vizinha.</a:t>
            </a:r>
            <a:endParaRPr lang="en-US" sz="1300" dirty="0"/>
          </a:p>
        </p:txBody>
      </p:sp>
      <p:sp>
        <p:nvSpPr>
          <p:cNvPr id="39" name="a0_7_bg"/>
          <p:cNvSpPr/>
          <p:nvPr/>
        </p:nvSpPr>
        <p:spPr>
          <a:xfrm>
            <a:off x="9075191" y="3429000"/>
            <a:ext cx="2567864" cy="1645920"/>
          </a:xfrm>
          <a:prstGeom prst="roundRect">
            <a:avLst>
              <a:gd name="adj" fmla="val 666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0" name="a0_7c"/>
          <p:cNvSpPr/>
          <p:nvPr/>
        </p:nvSpPr>
        <p:spPr>
          <a:xfrm>
            <a:off x="9276359" y="363016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1" name="a0_7i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07119" y="3760927"/>
            <a:ext cx="241402" cy="241402"/>
          </a:xfrm>
          <a:prstGeom prst="rect">
            <a:avLst/>
          </a:prstGeom>
        </p:spPr>
      </p:pic>
      <p:sp>
        <p:nvSpPr>
          <p:cNvPr id="42" name="a0_7_h"/>
          <p:cNvSpPr txBox="1"/>
          <p:nvPr/>
        </p:nvSpPr>
        <p:spPr>
          <a:xfrm>
            <a:off x="9898151" y="3630168"/>
            <a:ext cx="1607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Reputação</a:t>
            </a:r>
            <a:endParaRPr lang="en-US" sz="1500" dirty="0"/>
          </a:p>
        </p:txBody>
      </p:sp>
      <p:sp>
        <p:nvSpPr>
          <p:cNvPr id="43" name="a0_7_d"/>
          <p:cNvSpPr txBox="1"/>
          <p:nvPr/>
        </p:nvSpPr>
        <p:spPr>
          <a:xfrm>
            <a:off x="9276359" y="4233672"/>
            <a:ext cx="2202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O ativo mais caro de reconstruir: leva anos e custa milhões.</a:t>
            </a:r>
            <a:endParaRPr lang="en-US" sz="1300" dirty="0"/>
          </a:p>
        </p:txBody>
      </p:sp>
      <p:sp>
        <p:nvSpPr>
          <p:cNvPr id="44" name="a0_8_in_bg"/>
          <p:cNvSpPr/>
          <p:nvPr/>
        </p:nvSpPr>
        <p:spPr>
          <a:xfrm>
            <a:off x="548640" y="5349240"/>
            <a:ext cx="11094415" cy="777240"/>
          </a:xfrm>
          <a:prstGeom prst="roundRect">
            <a:avLst>
              <a:gd name="adj" fmla="val 1411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5" name="a0_8_in_icc"/>
          <p:cNvSpPr/>
          <p:nvPr/>
        </p:nvSpPr>
        <p:spPr>
          <a:xfrm>
            <a:off x="731520" y="55092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6" name="a0_8_in_ici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0392" y="5628132"/>
            <a:ext cx="219456" cy="219456"/>
          </a:xfrm>
          <a:prstGeom prst="rect">
            <a:avLst/>
          </a:prstGeom>
        </p:spPr>
      </p:pic>
      <p:sp>
        <p:nvSpPr>
          <p:cNvPr id="47" name="a0_8_in_t"/>
          <p:cNvSpPr txBox="1"/>
          <p:nvPr/>
        </p:nvSpPr>
        <p:spPr>
          <a:xfrm>
            <a:off x="1325880" y="5349240"/>
            <a:ext cx="10134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INSIGHT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Para quem trabalha em Gestão Comercial, ESG não é pauta do marketing: é condição para continuar vendendo.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184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184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184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184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184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nodeType="withEffect">
                                  <p:stCondLst>
                                    <p:cond delay="206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4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nodeType="withEffect">
                                  <p:stCondLst>
                                    <p:cond delay="206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4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nodeType="withEffect">
                                  <p:stCondLst>
                                    <p:cond delay="206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4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nodeType="withEffect">
                                  <p:stCondLst>
                                    <p:cond delay="206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4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PERGUNTA PROVOCADORA · PROPOSTA DE INTERVENÇÃO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AÇÕES PARA SAIR DO DISCURSO</a:t>
            </a:r>
            <a:endParaRPr lang="en-US" sz="2800" dirty="0"/>
          </a:p>
        </p:txBody>
      </p:sp>
      <p:sp>
        <p:nvSpPr>
          <p:cNvPr id="4" name="a0_0_bg"/>
          <p:cNvSpPr/>
          <p:nvPr/>
        </p:nvSpPr>
        <p:spPr>
          <a:xfrm>
            <a:off x="548640" y="1600200"/>
            <a:ext cx="2036003" cy="3657600"/>
          </a:xfrm>
          <a:prstGeom prst="roundRect">
            <a:avLst>
              <a:gd name="adj" fmla="val 538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a0_0_n"/>
          <p:cNvSpPr txBox="1"/>
          <p:nvPr/>
        </p:nvSpPr>
        <p:spPr>
          <a:xfrm>
            <a:off x="777240" y="17373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01</a:t>
            </a:r>
            <a:endParaRPr lang="en-US" sz="2800" dirty="0"/>
          </a:p>
        </p:txBody>
      </p:sp>
      <p:sp>
        <p:nvSpPr>
          <p:cNvPr id="6" name="a0_0c"/>
          <p:cNvSpPr/>
          <p:nvPr/>
        </p:nvSpPr>
        <p:spPr>
          <a:xfrm>
            <a:off x="1807403" y="1755648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a0_0i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0049" y="1898294"/>
            <a:ext cx="263347" cy="263347"/>
          </a:xfrm>
          <a:prstGeom prst="rect">
            <a:avLst/>
          </a:prstGeom>
        </p:spPr>
      </p:pic>
      <p:sp>
        <p:nvSpPr>
          <p:cNvPr id="8" name="a0_0_h"/>
          <p:cNvSpPr txBox="1"/>
          <p:nvPr/>
        </p:nvSpPr>
        <p:spPr>
          <a:xfrm>
            <a:off x="777240" y="2514600"/>
            <a:ext cx="167024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CONTER</a:t>
            </a:r>
            <a:endParaRPr lang="en-US" sz="1600" dirty="0"/>
          </a:p>
        </p:txBody>
      </p:sp>
      <p:sp>
        <p:nvSpPr>
          <p:cNvPr id="9" name="a0_0_d"/>
          <p:cNvSpPr txBox="1"/>
          <p:nvPr/>
        </p:nvSpPr>
        <p:spPr>
          <a:xfrm>
            <a:off x="777240" y="3017520"/>
            <a:ext cx="1670243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Parar a fonte de contaminação e garantir água segura imediatamente.</a:t>
            </a:r>
            <a:endParaRPr lang="en-US" sz="1400" dirty="0"/>
          </a:p>
        </p:txBody>
      </p:sp>
      <p:sp>
        <p:nvSpPr>
          <p:cNvPr id="10" name="a0_1_bg"/>
          <p:cNvSpPr/>
          <p:nvPr/>
        </p:nvSpPr>
        <p:spPr>
          <a:xfrm>
            <a:off x="2813243" y="1600200"/>
            <a:ext cx="2036003" cy="3657600"/>
          </a:xfrm>
          <a:prstGeom prst="roundRect">
            <a:avLst>
              <a:gd name="adj" fmla="val 538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a0_1_n"/>
          <p:cNvSpPr txBox="1"/>
          <p:nvPr/>
        </p:nvSpPr>
        <p:spPr>
          <a:xfrm>
            <a:off x="3041843" y="17373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02</a:t>
            </a:r>
            <a:endParaRPr lang="en-US" sz="2800" dirty="0"/>
          </a:p>
        </p:txBody>
      </p:sp>
      <p:sp>
        <p:nvSpPr>
          <p:cNvPr id="12" name="a0_1c"/>
          <p:cNvSpPr/>
          <p:nvPr/>
        </p:nvSpPr>
        <p:spPr>
          <a:xfrm>
            <a:off x="4072006" y="1755648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a0_1i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4652" y="1898294"/>
            <a:ext cx="263347" cy="263347"/>
          </a:xfrm>
          <a:prstGeom prst="rect">
            <a:avLst/>
          </a:prstGeom>
        </p:spPr>
      </p:pic>
      <p:sp>
        <p:nvSpPr>
          <p:cNvPr id="14" name="a0_1_h"/>
          <p:cNvSpPr txBox="1"/>
          <p:nvPr/>
        </p:nvSpPr>
        <p:spPr>
          <a:xfrm>
            <a:off x="3041843" y="2514600"/>
            <a:ext cx="167024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COMUNICAR</a:t>
            </a:r>
            <a:endParaRPr lang="en-US" sz="1600" dirty="0"/>
          </a:p>
        </p:txBody>
      </p:sp>
      <p:sp>
        <p:nvSpPr>
          <p:cNvPr id="15" name="a0_1_d"/>
          <p:cNvSpPr txBox="1"/>
          <p:nvPr/>
        </p:nvSpPr>
        <p:spPr>
          <a:xfrm>
            <a:off x="3041843" y="3017520"/>
            <a:ext cx="1670243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Contar a verdade à comunidade e às autoridades, com dados abertos.</a:t>
            </a:r>
            <a:endParaRPr lang="en-US" sz="1400" dirty="0"/>
          </a:p>
        </p:txBody>
      </p:sp>
      <p:sp>
        <p:nvSpPr>
          <p:cNvPr id="16" name="a0_2_bg"/>
          <p:cNvSpPr/>
          <p:nvPr/>
        </p:nvSpPr>
        <p:spPr>
          <a:xfrm>
            <a:off x="5077846" y="1600200"/>
            <a:ext cx="2036003" cy="3657600"/>
          </a:xfrm>
          <a:prstGeom prst="roundRect">
            <a:avLst>
              <a:gd name="adj" fmla="val 538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a0_2_n"/>
          <p:cNvSpPr txBox="1"/>
          <p:nvPr/>
        </p:nvSpPr>
        <p:spPr>
          <a:xfrm>
            <a:off x="5306446" y="17373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03</a:t>
            </a:r>
            <a:endParaRPr lang="en-US" sz="2800" dirty="0"/>
          </a:p>
        </p:txBody>
      </p:sp>
      <p:sp>
        <p:nvSpPr>
          <p:cNvPr id="18" name="a0_2c"/>
          <p:cNvSpPr/>
          <p:nvPr/>
        </p:nvSpPr>
        <p:spPr>
          <a:xfrm>
            <a:off x="6336609" y="1755648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a0_2i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9256" y="1898294"/>
            <a:ext cx="263347" cy="263347"/>
          </a:xfrm>
          <a:prstGeom prst="rect">
            <a:avLst/>
          </a:prstGeom>
        </p:spPr>
      </p:pic>
      <p:sp>
        <p:nvSpPr>
          <p:cNvPr id="20" name="a0_2_h"/>
          <p:cNvSpPr txBox="1"/>
          <p:nvPr/>
        </p:nvSpPr>
        <p:spPr>
          <a:xfrm>
            <a:off x="5306446" y="2514600"/>
            <a:ext cx="167024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REPARAR</a:t>
            </a:r>
            <a:endParaRPr lang="en-US" sz="1600" dirty="0"/>
          </a:p>
        </p:txBody>
      </p:sp>
      <p:sp>
        <p:nvSpPr>
          <p:cNvPr id="21" name="a0_2_d"/>
          <p:cNvSpPr txBox="1"/>
          <p:nvPr/>
        </p:nvSpPr>
        <p:spPr>
          <a:xfrm>
            <a:off x="5306446" y="3017520"/>
            <a:ext cx="1670243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Fundo de reparação, acompanhamento médico e recuperação ambiental.</a:t>
            </a:r>
            <a:endParaRPr lang="en-US" sz="1400" dirty="0"/>
          </a:p>
        </p:txBody>
      </p:sp>
      <p:sp>
        <p:nvSpPr>
          <p:cNvPr id="22" name="a0_3_bg"/>
          <p:cNvSpPr/>
          <p:nvPr/>
        </p:nvSpPr>
        <p:spPr>
          <a:xfrm>
            <a:off x="7342449" y="1600200"/>
            <a:ext cx="2036003" cy="3657600"/>
          </a:xfrm>
          <a:prstGeom prst="roundRect">
            <a:avLst>
              <a:gd name="adj" fmla="val 538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a0_3_n"/>
          <p:cNvSpPr txBox="1"/>
          <p:nvPr/>
        </p:nvSpPr>
        <p:spPr>
          <a:xfrm>
            <a:off x="7571049" y="17373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04</a:t>
            </a:r>
            <a:endParaRPr lang="en-US" sz="2800" dirty="0"/>
          </a:p>
        </p:txBody>
      </p:sp>
      <p:sp>
        <p:nvSpPr>
          <p:cNvPr id="24" name="a0_3c"/>
          <p:cNvSpPr/>
          <p:nvPr/>
        </p:nvSpPr>
        <p:spPr>
          <a:xfrm>
            <a:off x="8601212" y="1755648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a0_3i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3859" y="1898294"/>
            <a:ext cx="263347" cy="263347"/>
          </a:xfrm>
          <a:prstGeom prst="rect">
            <a:avLst/>
          </a:prstGeom>
        </p:spPr>
      </p:pic>
      <p:sp>
        <p:nvSpPr>
          <p:cNvPr id="26" name="a0_3_h"/>
          <p:cNvSpPr txBox="1"/>
          <p:nvPr/>
        </p:nvSpPr>
        <p:spPr>
          <a:xfrm>
            <a:off x="7571049" y="2514600"/>
            <a:ext cx="167024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GOVERNAR</a:t>
            </a:r>
            <a:endParaRPr lang="en-US" sz="1600" dirty="0"/>
          </a:p>
        </p:txBody>
      </p:sp>
      <p:sp>
        <p:nvSpPr>
          <p:cNvPr id="27" name="a0_3_d"/>
          <p:cNvSpPr txBox="1"/>
          <p:nvPr/>
        </p:nvSpPr>
        <p:spPr>
          <a:xfrm>
            <a:off x="7571049" y="3017520"/>
            <a:ext cx="1670243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Comitê ESG no conselho, auditoria externa e canal de denúncia.</a:t>
            </a:r>
            <a:endParaRPr lang="en-US" sz="1400" dirty="0"/>
          </a:p>
        </p:txBody>
      </p:sp>
      <p:sp>
        <p:nvSpPr>
          <p:cNvPr id="28" name="a0_4_bg"/>
          <p:cNvSpPr/>
          <p:nvPr/>
        </p:nvSpPr>
        <p:spPr>
          <a:xfrm>
            <a:off x="9607052" y="1600200"/>
            <a:ext cx="2036003" cy="3657600"/>
          </a:xfrm>
          <a:prstGeom prst="roundRect">
            <a:avLst>
              <a:gd name="adj" fmla="val 53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a0_4_n"/>
          <p:cNvSpPr txBox="1"/>
          <p:nvPr/>
        </p:nvSpPr>
        <p:spPr>
          <a:xfrm>
            <a:off x="9835652" y="17373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05</a:t>
            </a:r>
            <a:endParaRPr lang="en-US" sz="2800" dirty="0"/>
          </a:p>
        </p:txBody>
      </p:sp>
      <p:sp>
        <p:nvSpPr>
          <p:cNvPr id="30" name="a0_4c"/>
          <p:cNvSpPr/>
          <p:nvPr/>
        </p:nvSpPr>
        <p:spPr>
          <a:xfrm>
            <a:off x="10865815" y="1755648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31" name="a0_4i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08462" y="1898294"/>
            <a:ext cx="263347" cy="263347"/>
          </a:xfrm>
          <a:prstGeom prst="rect">
            <a:avLst/>
          </a:prstGeom>
        </p:spPr>
      </p:pic>
      <p:sp>
        <p:nvSpPr>
          <p:cNvPr id="32" name="a0_4_h"/>
          <p:cNvSpPr txBox="1"/>
          <p:nvPr/>
        </p:nvSpPr>
        <p:spPr>
          <a:xfrm>
            <a:off x="9835652" y="2514600"/>
            <a:ext cx="167024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PREVENIR</a:t>
            </a:r>
            <a:endParaRPr lang="en-US" sz="1600" dirty="0"/>
          </a:p>
        </p:txBody>
      </p:sp>
      <p:sp>
        <p:nvSpPr>
          <p:cNvPr id="33" name="a0_4_d"/>
          <p:cNvSpPr txBox="1"/>
          <p:nvPr/>
        </p:nvSpPr>
        <p:spPr>
          <a:xfrm>
            <a:off x="9835652" y="3017520"/>
            <a:ext cx="1670243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Trocar o insumo tóxico, monitorar sempre e certificar a gestão ambiental (ISO 14001).</a:t>
            </a:r>
            <a:endParaRPr lang="en-US" sz="1400" dirty="0"/>
          </a:p>
        </p:txBody>
      </p:sp>
      <p:sp>
        <p:nvSpPr>
          <p:cNvPr id="34" name="a0_5_ch"/>
          <p:cNvSpPr txBox="1"/>
          <p:nvPr/>
        </p:nvSpPr>
        <p:spPr>
          <a:xfrm>
            <a:off x="548640" y="54681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COBRE TODO O DESAFIO DO GRUPO</a:t>
            </a:r>
            <a:endParaRPr lang="en-US" sz="1100" dirty="0"/>
          </a:p>
        </p:txBody>
      </p:sp>
      <p:sp>
        <p:nvSpPr>
          <p:cNvPr id="35" name="a0_6_chip"/>
          <p:cNvSpPr/>
          <p:nvPr/>
        </p:nvSpPr>
        <p:spPr>
          <a:xfrm>
            <a:off x="548640" y="5833872"/>
            <a:ext cx="1325880" cy="34747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6" name="a0_6_chipt"/>
          <p:cNvSpPr txBox="1"/>
          <p:nvPr/>
        </p:nvSpPr>
        <p:spPr>
          <a:xfrm>
            <a:off x="548640" y="583387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✓ Plano de ação</a:t>
            </a:r>
            <a:endParaRPr lang="en-US" sz="1200" dirty="0"/>
          </a:p>
        </p:txBody>
      </p:sp>
      <p:sp>
        <p:nvSpPr>
          <p:cNvPr id="37" name="a0_7_chip"/>
          <p:cNvSpPr/>
          <p:nvPr/>
        </p:nvSpPr>
        <p:spPr>
          <a:xfrm>
            <a:off x="2011680" y="5833872"/>
            <a:ext cx="1097280" cy="34747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8" name="a0_7_chipt"/>
          <p:cNvSpPr txBox="1"/>
          <p:nvPr/>
        </p:nvSpPr>
        <p:spPr>
          <a:xfrm>
            <a:off x="2011680" y="583387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✓ Reparação</a:t>
            </a:r>
            <a:endParaRPr lang="en-US" sz="1200" dirty="0"/>
          </a:p>
        </p:txBody>
      </p:sp>
      <p:sp>
        <p:nvSpPr>
          <p:cNvPr id="39" name="a0_8_chip"/>
          <p:cNvSpPr/>
          <p:nvPr/>
        </p:nvSpPr>
        <p:spPr>
          <a:xfrm>
            <a:off x="3246120" y="5833872"/>
            <a:ext cx="2514600" cy="34747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0" name="a0_8_chipt"/>
          <p:cNvSpPr txBox="1"/>
          <p:nvPr/>
        </p:nvSpPr>
        <p:spPr>
          <a:xfrm>
            <a:off x="3246120" y="583387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✓ Comunicação com a comunidade</a:t>
            </a:r>
            <a:endParaRPr lang="en-US" sz="1200" dirty="0"/>
          </a:p>
        </p:txBody>
      </p:sp>
      <p:sp>
        <p:nvSpPr>
          <p:cNvPr id="41" name="a0_9_chip"/>
          <p:cNvSpPr/>
          <p:nvPr/>
        </p:nvSpPr>
        <p:spPr>
          <a:xfrm>
            <a:off x="5897880" y="5833872"/>
            <a:ext cx="1508760" cy="34747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2" name="a0_9_chipt"/>
          <p:cNvSpPr txBox="1"/>
          <p:nvPr/>
        </p:nvSpPr>
        <p:spPr>
          <a:xfrm>
            <a:off x="5897880" y="583387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✓ Órgãos públicos</a:t>
            </a:r>
            <a:endParaRPr lang="en-US" sz="1200" dirty="0"/>
          </a:p>
        </p:txBody>
      </p:sp>
      <p:sp>
        <p:nvSpPr>
          <p:cNvPr id="43" name="a0_10_chip"/>
          <p:cNvSpPr/>
          <p:nvPr/>
        </p:nvSpPr>
        <p:spPr>
          <a:xfrm>
            <a:off x="7543800" y="5833872"/>
            <a:ext cx="2103120" cy="34747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4" name="a0_10_chipt"/>
          <p:cNvSpPr txBox="1"/>
          <p:nvPr/>
        </p:nvSpPr>
        <p:spPr>
          <a:xfrm>
            <a:off x="7543800" y="583387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✓ Proteção dos consumidores</a:t>
            </a:r>
            <a:endParaRPr lang="en-US" sz="1200" dirty="0"/>
          </a:p>
        </p:txBody>
      </p:sp>
      <p:sp>
        <p:nvSpPr>
          <p:cNvPr id="45" name="a0_11_chip"/>
          <p:cNvSpPr/>
          <p:nvPr/>
        </p:nvSpPr>
        <p:spPr>
          <a:xfrm>
            <a:off x="9784080" y="5833872"/>
            <a:ext cx="1097280" cy="34747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6" name="a0_11_chipt"/>
          <p:cNvSpPr txBox="1"/>
          <p:nvPr/>
        </p:nvSpPr>
        <p:spPr>
          <a:xfrm>
            <a:off x="9784080" y="583387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✓ Prevenção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184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184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206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206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228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228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4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nodeType="withEffect">
                                  <p:stCondLst>
                                    <p:cond delay="272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4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nodeType="withEffect">
                                  <p:stCondLst>
                                    <p:cond delay="272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4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1"/>
                </a:solidFill>
              </a:rPr>
              <a:t>PERGUNTA PROVOCADORA</a:t>
            </a:r>
            <a:endParaRPr lang="en-US" sz="1200" dirty="0"/>
          </a:p>
        </p:txBody>
      </p:sp>
      <p:sp>
        <p:nvSpPr>
          <p:cNvPr id="3" name="a0_0_q"/>
          <p:cNvSpPr txBox="1"/>
          <p:nvPr/>
        </p:nvSpPr>
        <p:spPr>
          <a:xfrm>
            <a:off x="548640" y="91440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uma empresa deve fazer quando reconhecer que sua atividade causou prejuízos à sociedade?</a:t>
            </a:r>
            <a:endParaRPr lang="en-US" sz="3400" dirty="0"/>
          </a:p>
        </p:txBody>
      </p:sp>
      <p:sp>
        <p:nvSpPr>
          <p:cNvPr id="4" name="a0_1_s"/>
          <p:cNvSpPr txBox="1"/>
          <p:nvPr/>
        </p:nvSpPr>
        <p:spPr>
          <a:xfrm>
            <a:off x="548640" y="24688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Antes da nossa resposta: o que vocês fariam?</a:t>
            </a:r>
            <a:endParaRPr lang="en-US" sz="1800" dirty="0"/>
          </a:p>
        </p:txBody>
      </p:sp>
      <p:sp>
        <p:nvSpPr>
          <p:cNvPr id="5" name="a1_0_bg"/>
          <p:cNvSpPr/>
          <p:nvPr/>
        </p:nvSpPr>
        <p:spPr>
          <a:xfrm>
            <a:off x="548640" y="3154680"/>
            <a:ext cx="2567864" cy="2057400"/>
          </a:xfrm>
          <a:prstGeom prst="roundRect">
            <a:avLst>
              <a:gd name="adj" fmla="val 533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a1_0c"/>
          <p:cNvSpPr/>
          <p:nvPr/>
        </p:nvSpPr>
        <p:spPr>
          <a:xfrm>
            <a:off x="777240" y="33375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a1_0i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3480206"/>
            <a:ext cx="263347" cy="263347"/>
          </a:xfrm>
          <a:prstGeom prst="rect">
            <a:avLst/>
          </a:prstGeom>
        </p:spPr>
      </p:pic>
      <p:sp>
        <p:nvSpPr>
          <p:cNvPr id="8" name="a1_0_h"/>
          <p:cNvSpPr txBox="1"/>
          <p:nvPr/>
        </p:nvSpPr>
        <p:spPr>
          <a:xfrm>
            <a:off x="777240" y="3977640"/>
            <a:ext cx="2202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PARAR.</a:t>
            </a:r>
            <a:endParaRPr lang="en-US" sz="2600" dirty="0"/>
          </a:p>
        </p:txBody>
      </p:sp>
      <p:sp>
        <p:nvSpPr>
          <p:cNvPr id="9" name="a1_0_d"/>
          <p:cNvSpPr txBox="1"/>
          <p:nvPr/>
        </p:nvSpPr>
        <p:spPr>
          <a:xfrm>
            <a:off x="777240" y="4480560"/>
            <a:ext cx="2202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Interromper o dano imediatamente.</a:t>
            </a:r>
            <a:endParaRPr lang="en-US" sz="1400" dirty="0"/>
          </a:p>
        </p:txBody>
      </p:sp>
      <p:sp>
        <p:nvSpPr>
          <p:cNvPr id="10" name="a1_1_bg"/>
          <p:cNvSpPr/>
          <p:nvPr/>
        </p:nvSpPr>
        <p:spPr>
          <a:xfrm>
            <a:off x="3390824" y="3154680"/>
            <a:ext cx="2567864" cy="2057400"/>
          </a:xfrm>
          <a:prstGeom prst="roundRect">
            <a:avLst>
              <a:gd name="adj" fmla="val 533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a1_1c"/>
          <p:cNvSpPr/>
          <p:nvPr/>
        </p:nvSpPr>
        <p:spPr>
          <a:xfrm>
            <a:off x="3619424" y="33375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a1_1i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2070" y="3480206"/>
            <a:ext cx="263347" cy="263347"/>
          </a:xfrm>
          <a:prstGeom prst="rect">
            <a:avLst/>
          </a:prstGeom>
        </p:spPr>
      </p:pic>
      <p:sp>
        <p:nvSpPr>
          <p:cNvPr id="13" name="a1_1_h"/>
          <p:cNvSpPr txBox="1"/>
          <p:nvPr/>
        </p:nvSpPr>
        <p:spPr>
          <a:xfrm>
            <a:off x="3619424" y="3977640"/>
            <a:ext cx="2202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CONTAR.</a:t>
            </a:r>
            <a:endParaRPr lang="en-US" sz="2600" dirty="0"/>
          </a:p>
        </p:txBody>
      </p:sp>
      <p:sp>
        <p:nvSpPr>
          <p:cNvPr id="14" name="a1_1_d"/>
          <p:cNvSpPr txBox="1"/>
          <p:nvPr/>
        </p:nvSpPr>
        <p:spPr>
          <a:xfrm>
            <a:off x="3619424" y="4480560"/>
            <a:ext cx="2202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Assumir o erro diante da comunidade e do governo.</a:t>
            </a:r>
            <a:endParaRPr lang="en-US" sz="1400" dirty="0"/>
          </a:p>
        </p:txBody>
      </p:sp>
      <p:sp>
        <p:nvSpPr>
          <p:cNvPr id="15" name="a1_2_bg"/>
          <p:cNvSpPr/>
          <p:nvPr/>
        </p:nvSpPr>
        <p:spPr>
          <a:xfrm>
            <a:off x="6233008" y="3154680"/>
            <a:ext cx="2567864" cy="2057400"/>
          </a:xfrm>
          <a:prstGeom prst="roundRect">
            <a:avLst>
              <a:gd name="adj" fmla="val 533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a1_2c"/>
          <p:cNvSpPr/>
          <p:nvPr/>
        </p:nvSpPr>
        <p:spPr>
          <a:xfrm>
            <a:off x="6461608" y="33375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a1_2i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254" y="3480206"/>
            <a:ext cx="263347" cy="263347"/>
          </a:xfrm>
          <a:prstGeom prst="rect">
            <a:avLst/>
          </a:prstGeom>
        </p:spPr>
      </p:pic>
      <p:sp>
        <p:nvSpPr>
          <p:cNvPr id="18" name="a1_2_h"/>
          <p:cNvSpPr txBox="1"/>
          <p:nvPr/>
        </p:nvSpPr>
        <p:spPr>
          <a:xfrm>
            <a:off x="6461608" y="3977640"/>
            <a:ext cx="2202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REPARAR.</a:t>
            </a:r>
            <a:endParaRPr lang="en-US" sz="2600" dirty="0"/>
          </a:p>
        </p:txBody>
      </p:sp>
      <p:sp>
        <p:nvSpPr>
          <p:cNvPr id="19" name="a1_2_d"/>
          <p:cNvSpPr txBox="1"/>
          <p:nvPr/>
        </p:nvSpPr>
        <p:spPr>
          <a:xfrm>
            <a:off x="6461608" y="4480560"/>
            <a:ext cx="2202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Indenizar, tratar e recuperar o ambiente.</a:t>
            </a:r>
            <a:endParaRPr lang="en-US" sz="1400" dirty="0"/>
          </a:p>
        </p:txBody>
      </p:sp>
      <p:sp>
        <p:nvSpPr>
          <p:cNvPr id="20" name="a1_3_bg"/>
          <p:cNvSpPr/>
          <p:nvPr/>
        </p:nvSpPr>
        <p:spPr>
          <a:xfrm>
            <a:off x="9075191" y="3154680"/>
            <a:ext cx="2567864" cy="2057400"/>
          </a:xfrm>
          <a:prstGeom prst="roundRect">
            <a:avLst>
              <a:gd name="adj" fmla="val 533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a1_3c"/>
          <p:cNvSpPr/>
          <p:nvPr/>
        </p:nvSpPr>
        <p:spPr>
          <a:xfrm>
            <a:off x="9303791" y="33375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2" name="a1_3i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6438" y="3480206"/>
            <a:ext cx="263347" cy="263347"/>
          </a:xfrm>
          <a:prstGeom prst="rect">
            <a:avLst/>
          </a:prstGeom>
        </p:spPr>
      </p:pic>
      <p:sp>
        <p:nvSpPr>
          <p:cNvPr id="23" name="a1_3_h"/>
          <p:cNvSpPr txBox="1"/>
          <p:nvPr/>
        </p:nvSpPr>
        <p:spPr>
          <a:xfrm>
            <a:off x="9303791" y="3977640"/>
            <a:ext cx="2202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MUDAR.</a:t>
            </a:r>
            <a:endParaRPr lang="en-US" sz="2600" dirty="0"/>
          </a:p>
        </p:txBody>
      </p:sp>
      <p:sp>
        <p:nvSpPr>
          <p:cNvPr id="24" name="a1_3_d"/>
          <p:cNvSpPr txBox="1"/>
          <p:nvPr/>
        </p:nvSpPr>
        <p:spPr>
          <a:xfrm>
            <a:off x="9303791" y="4480560"/>
            <a:ext cx="2202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Rever processos e governança para não repetir.</a:t>
            </a:r>
            <a:endParaRPr lang="en-US" sz="1400" dirty="0"/>
          </a:p>
        </p:txBody>
      </p:sp>
      <p:sp>
        <p:nvSpPr>
          <p:cNvPr id="25" name="a2_0_f"/>
          <p:cNvSpPr txBox="1"/>
          <p:nvPr/>
        </p:nvSpPr>
        <p:spPr>
          <a:xfrm>
            <a:off x="548640" y="54864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 fazer isso antes de ser obrigada: no filme, a verdade apareceu de qualquer jeito, só que muito mais cara.</a:t>
            </a:r>
            <a:endParaRPr lang="en-US" sz="18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CONSIDERAÇÕES FINAIS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EMPRESA SOCIALMENTE RESPONSÁVEL PRECISA…</a:t>
            </a:r>
            <a:endParaRPr lang="en-US" sz="2800" dirty="0"/>
          </a:p>
        </p:txBody>
      </p:sp>
      <p:sp>
        <p:nvSpPr>
          <p:cNvPr id="4" name="a0_0_bg"/>
          <p:cNvSpPr/>
          <p:nvPr/>
        </p:nvSpPr>
        <p:spPr>
          <a:xfrm>
            <a:off x="548640" y="1645920"/>
            <a:ext cx="6400800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a0_0c"/>
          <p:cNvSpPr/>
          <p:nvPr/>
        </p:nvSpPr>
        <p:spPr>
          <a:xfrm>
            <a:off x="749808" y="1828800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6" name="a0_0i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2454" y="1971446"/>
            <a:ext cx="263347" cy="263347"/>
          </a:xfrm>
          <a:prstGeom prst="rect">
            <a:avLst/>
          </a:prstGeom>
        </p:spPr>
      </p:pic>
      <p:sp>
        <p:nvSpPr>
          <p:cNvPr id="7" name="a0_0_t"/>
          <p:cNvSpPr txBox="1"/>
          <p:nvPr/>
        </p:nvSpPr>
        <p:spPr>
          <a:xfrm>
            <a:off x="1508760" y="1645920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…tratar a comunidade como stakeholder, não como obstáculo;</a:t>
            </a:r>
            <a:endParaRPr lang="en-US" sz="1600" dirty="0"/>
          </a:p>
        </p:txBody>
      </p:sp>
      <p:sp>
        <p:nvSpPr>
          <p:cNvPr id="8" name="a0_1_bg"/>
          <p:cNvSpPr/>
          <p:nvPr/>
        </p:nvSpPr>
        <p:spPr>
          <a:xfrm>
            <a:off x="548640" y="2743200"/>
            <a:ext cx="6400800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a0_1c"/>
          <p:cNvSpPr/>
          <p:nvPr/>
        </p:nvSpPr>
        <p:spPr>
          <a:xfrm>
            <a:off x="749808" y="2926080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0" name="a0_1i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454" y="3068726"/>
            <a:ext cx="263347" cy="263347"/>
          </a:xfrm>
          <a:prstGeom prst="rect">
            <a:avLst/>
          </a:prstGeom>
        </p:spPr>
      </p:pic>
      <p:sp>
        <p:nvSpPr>
          <p:cNvPr id="11" name="a0_1_t"/>
          <p:cNvSpPr txBox="1"/>
          <p:nvPr/>
        </p:nvSpPr>
        <p:spPr>
          <a:xfrm>
            <a:off x="1508760" y="2743200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…contar a verdade antes que alguém precise descobri-la;</a:t>
            </a:r>
            <a:endParaRPr lang="en-US" sz="1600" dirty="0"/>
          </a:p>
        </p:txBody>
      </p:sp>
      <p:sp>
        <p:nvSpPr>
          <p:cNvPr id="12" name="a0_2_bg"/>
          <p:cNvSpPr/>
          <p:nvPr/>
        </p:nvSpPr>
        <p:spPr>
          <a:xfrm>
            <a:off x="548640" y="3840480"/>
            <a:ext cx="6400800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a0_2c"/>
          <p:cNvSpPr/>
          <p:nvPr/>
        </p:nvSpPr>
        <p:spPr>
          <a:xfrm>
            <a:off x="749808" y="4023360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4" name="a0_2i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54" y="4166006"/>
            <a:ext cx="263347" cy="263347"/>
          </a:xfrm>
          <a:prstGeom prst="rect">
            <a:avLst/>
          </a:prstGeom>
        </p:spPr>
      </p:pic>
      <p:sp>
        <p:nvSpPr>
          <p:cNvPr id="15" name="a0_2_t"/>
          <p:cNvSpPr txBox="1"/>
          <p:nvPr/>
        </p:nvSpPr>
        <p:spPr>
          <a:xfrm>
            <a:off x="1508760" y="3840480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…levar a responsabilidade socioambiental para as decisões do conselho, não só para o marketing;</a:t>
            </a:r>
            <a:endParaRPr lang="en-US" sz="1600" dirty="0"/>
          </a:p>
        </p:txBody>
      </p:sp>
      <p:sp>
        <p:nvSpPr>
          <p:cNvPr id="16" name="a0_3_bg"/>
          <p:cNvSpPr/>
          <p:nvPr/>
        </p:nvSpPr>
        <p:spPr>
          <a:xfrm>
            <a:off x="548640" y="4937760"/>
            <a:ext cx="6400800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a0_3c"/>
          <p:cNvSpPr/>
          <p:nvPr/>
        </p:nvSpPr>
        <p:spPr>
          <a:xfrm>
            <a:off x="749808" y="5120640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8" name="a0_3i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454" y="5263286"/>
            <a:ext cx="263347" cy="263347"/>
          </a:xfrm>
          <a:prstGeom prst="rect">
            <a:avLst/>
          </a:prstGeom>
        </p:spPr>
      </p:pic>
      <p:sp>
        <p:nvSpPr>
          <p:cNvPr id="19" name="a0_3_t"/>
          <p:cNvSpPr txBox="1"/>
          <p:nvPr/>
        </p:nvSpPr>
        <p:spPr>
          <a:xfrm>
            <a:off x="1508760" y="4937760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…medir, publicar e corrigir, porque ESG se prova com indicadores.</a:t>
            </a:r>
            <a:endParaRPr lang="en-US" sz="1600" dirty="0"/>
          </a:p>
        </p:txBody>
      </p:sp>
      <p:sp>
        <p:nvSpPr>
          <p:cNvPr id="20" name="a1_0_bg"/>
          <p:cNvSpPr/>
          <p:nvPr/>
        </p:nvSpPr>
        <p:spPr>
          <a:xfrm>
            <a:off x="7406640" y="1645920"/>
            <a:ext cx="4236415" cy="4206240"/>
          </a:xfrm>
          <a:prstGeom prst="roundRect">
            <a:avLst>
              <a:gd name="adj" fmla="val 260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a1_1_qm"/>
          <p:cNvSpPr txBox="1"/>
          <p:nvPr/>
        </p:nvSpPr>
        <p:spPr>
          <a:xfrm>
            <a:off x="7680960" y="16916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chemeClr val="accent1"/>
                </a:solidFill>
              </a:rPr>
              <a:t>“</a:t>
            </a:r>
            <a:endParaRPr lang="en-US" sz="8000" dirty="0"/>
          </a:p>
        </p:txBody>
      </p:sp>
      <p:sp>
        <p:nvSpPr>
          <p:cNvPr id="22" name="a1_2_q"/>
          <p:cNvSpPr txBox="1"/>
          <p:nvPr/>
        </p:nvSpPr>
        <p:spPr>
          <a:xfrm>
            <a:off x="7680960" y="2560320"/>
            <a:ext cx="368777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Responsabilidade vira prática quando está na governança e nos indicadores, e não só na propaganda.</a:t>
            </a:r>
            <a:endParaRPr lang="en-US" sz="2200" dirty="0"/>
          </a:p>
        </p:txBody>
      </p:sp>
      <p:sp>
        <p:nvSpPr>
          <p:cNvPr id="23" name="a1_3_s"/>
          <p:cNvSpPr txBox="1"/>
          <p:nvPr/>
        </p:nvSpPr>
        <p:spPr>
          <a:xfrm>
            <a:off x="7680960" y="5120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GRUPO 3 · CONCLUSÃO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0_0_img" descr="Ilustração de Hinkley ao entardece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vei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>
              <a:alpha val="60000"/>
            </a:schemeClr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a0_1_k"/>
          <p:cNvSpPr txBox="1"/>
          <p:nvPr/>
        </p:nvSpPr>
        <p:spPr>
          <a:xfrm>
            <a:off x="54864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GRUPO 3 · ERIN BROCKOVICH</a:t>
            </a:r>
            <a:endParaRPr lang="en-US" sz="1200" dirty="0"/>
          </a:p>
        </p:txBody>
      </p:sp>
      <p:sp>
        <p:nvSpPr>
          <p:cNvPr id="5" name="a0_2_t"/>
          <p:cNvSpPr txBox="1"/>
          <p:nvPr/>
        </p:nvSpPr>
        <p:spPr>
          <a:xfrm>
            <a:off x="548640" y="128016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OBRIGADO!</a:t>
            </a:r>
            <a:endParaRPr lang="en-US" sz="6600" dirty="0"/>
          </a:p>
        </p:txBody>
      </p:sp>
      <p:sp>
        <p:nvSpPr>
          <p:cNvPr id="6" name="a0_3_bg"/>
          <p:cNvSpPr/>
          <p:nvPr/>
        </p:nvSpPr>
        <p:spPr>
          <a:xfrm>
            <a:off x="548640" y="2926080"/>
            <a:ext cx="7498080" cy="1828800"/>
          </a:xfrm>
          <a:prstGeom prst="roundRect">
            <a:avLst>
              <a:gd name="adj" fmla="val 6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a0_4_q"/>
          <p:cNvSpPr txBox="1"/>
          <p:nvPr/>
        </p:nvSpPr>
        <p:spPr>
          <a:xfrm>
            <a:off x="868680" y="2926080"/>
            <a:ext cx="6858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tx1"/>
                </a:solidFill>
              </a:rPr>
              <a:t>PARA O DEBATE</a:t>
            </a:r>
            <a:endParaRPr lang="en-US" sz="11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Vocês comprariam de uma empresa que escondeu um problema assim, se o preço dela fosse mais baixo?</a:t>
            </a:r>
            <a:endParaRPr lang="en-US" sz="1100" dirty="0"/>
          </a:p>
        </p:txBody>
      </p:sp>
      <p:sp>
        <p:nvSpPr>
          <p:cNvPr id="8" name="a0_5_n"/>
          <p:cNvSpPr txBox="1"/>
          <p:nvPr/>
        </p:nvSpPr>
        <p:spPr>
          <a:xfrm>
            <a:off x="548640" y="55778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Ian Cavalcante · Ana Beatriz · Matheus Beserra · Theo Arslanian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Profa. Sandra Joyce Souza · Fatec Ipiranga</a:t>
            </a:r>
            <a:endParaRPr lang="en-US" sz="13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ESG em Cena">
  <a:themeElements>
    <a:clrScheme name="ESG em Cena">
      <a:dk1>
        <a:srgbClr val="14202E"/>
      </a:dk1>
      <a:lt1>
        <a:srgbClr val="FFFFFF"/>
      </a:lt1>
      <a:dk2>
        <a:srgbClr val="1E2E40"/>
      </a:dk2>
      <a:lt2>
        <a:srgbClr val="F4F0E8"/>
      </a:lt2>
      <a:accent1>
        <a:srgbClr val="E8A23A"/>
      </a:accent1>
      <a:accent2>
        <a:srgbClr val="B5472C"/>
      </a:accent2>
      <a:accent3>
        <a:srgbClr val="2B3F56"/>
      </a:accent3>
      <a:accent4>
        <a:srgbClr val="F2C46D"/>
      </a:accent4>
      <a:accent5>
        <a:srgbClr val="6E9DB8"/>
      </a:accent5>
      <a:accent6>
        <a:srgbClr val="8A94A3"/>
      </a:accent6>
      <a:hlink>
        <a:srgbClr val="E8A23A"/>
      </a:hlink>
      <a:folHlink>
        <a:srgbClr val="B5472C"/>
      </a:folHlink>
    </a:clrScheme>
    <a:fontScheme name="ESG em Cena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ESG em Cena · Erin Brockovich</dc:title>
  <dc:subject>PptxGenJS Presentation</dc:subject>
  <dc:creator>Grupo 3: Ian Cavalcante, Ana Beatriz, Matheus Beserra e Theo Arslanian</dc:creator>
  <cp:lastModifiedBy>Grupo 3: Ian Cavalcante, Ana Beatriz, Matheus Beserra e Theo Arslanian</cp:lastModifiedBy>
  <cp:revision>1</cp:revision>
  <dcterms:created xsi:type="dcterms:W3CDTF">2026-10-27T16:46:28Z</dcterms:created>
  <dcterms:modified xsi:type="dcterms:W3CDTF">2026-10-27T16:46:28Z</dcterms:modified>
</cp:coreProperties>
</file>